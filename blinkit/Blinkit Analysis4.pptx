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33" r:id="rId1"/>
  </p:sldMasterIdLst>
  <p:notesMasterIdLst>
    <p:notesMasterId r:id="rId26"/>
  </p:notesMasterIdLst>
  <p:sldIdLst>
    <p:sldId id="260" r:id="rId2"/>
    <p:sldId id="268" r:id="rId3"/>
    <p:sldId id="269" r:id="rId4"/>
    <p:sldId id="270" r:id="rId5"/>
    <p:sldId id="271" r:id="rId6"/>
    <p:sldId id="272" r:id="rId7"/>
    <p:sldId id="257" r:id="rId8"/>
    <p:sldId id="274" r:id="rId9"/>
    <p:sldId id="275" r:id="rId10"/>
    <p:sldId id="276" r:id="rId11"/>
    <p:sldId id="277" r:id="rId12"/>
    <p:sldId id="266" r:id="rId13"/>
    <p:sldId id="283" r:id="rId14"/>
    <p:sldId id="284" r:id="rId15"/>
    <p:sldId id="285" r:id="rId16"/>
    <p:sldId id="278" r:id="rId17"/>
    <p:sldId id="279" r:id="rId18"/>
    <p:sldId id="280" r:id="rId19"/>
    <p:sldId id="281" r:id="rId20"/>
    <p:sldId id="286" r:id="rId21"/>
    <p:sldId id="287" r:id="rId22"/>
    <p:sldId id="288" r:id="rId23"/>
    <p:sldId id="264" r:id="rId24"/>
    <p:sldId id="27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702E"/>
    <a:srgbClr val="FFD2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8" d="100"/>
          <a:sy n="78" d="100"/>
        </p:scale>
        <p:origin x="7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1B1A51-DBDF-4087-A106-5271BC574C7F}"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BCEBCE-4851-4B49-BA6F-F1194B81CEA2}" type="slidenum">
              <a:rPr lang="en-IN" smtClean="0"/>
              <a:t>‹#›</a:t>
            </a:fld>
            <a:endParaRPr lang="en-IN"/>
          </a:p>
        </p:txBody>
      </p:sp>
    </p:spTree>
    <p:extLst>
      <p:ext uri="{BB962C8B-B14F-4D97-AF65-F5344CB8AC3E}">
        <p14:creationId xmlns:p14="http://schemas.microsoft.com/office/powerpoint/2010/main" val="157648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1155803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3640168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683343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373144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917176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250839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90475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16820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3602378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1956307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3410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70564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1995898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33678230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670064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23840708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B7FD77-64CE-4E94-98DD-310047DA4970}" type="datetimeFigureOut">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EF1D8B05-D458-4BD0-8766-5A7BBDA2FD9D}" type="slidenum">
              <a:rPr lang="en-IN" smtClean="0"/>
              <a:t>‹#›</a:t>
            </a:fld>
            <a:endParaRPr lang="en-IN" dirty="0"/>
          </a:p>
        </p:txBody>
      </p:sp>
    </p:spTree>
    <p:extLst>
      <p:ext uri="{BB962C8B-B14F-4D97-AF65-F5344CB8AC3E}">
        <p14:creationId xmlns:p14="http://schemas.microsoft.com/office/powerpoint/2010/main" val="1763686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A8B7FD77-64CE-4E94-98DD-310047DA4970}" type="datetimeFigureOut">
              <a:rPr lang="en-IN" smtClean="0"/>
              <a:t>10-04-2026</a:t>
            </a:fld>
            <a:endParaRPr lang="en-IN"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F1D8B05-D458-4BD0-8766-5A7BBDA2FD9D}" type="slidenum">
              <a:rPr lang="en-IN" smtClean="0"/>
              <a:t>‹#›</a:t>
            </a:fld>
            <a:endParaRPr lang="en-IN" dirty="0"/>
          </a:p>
        </p:txBody>
      </p:sp>
    </p:spTree>
    <p:extLst>
      <p:ext uri="{BB962C8B-B14F-4D97-AF65-F5344CB8AC3E}">
        <p14:creationId xmlns:p14="http://schemas.microsoft.com/office/powerpoint/2010/main" val="3661019131"/>
      </p:ext>
    </p:extLst>
  </p:cSld>
  <p:clrMap bg1="dk1" tx1="lt1" bg2="dk2" tx2="lt2" accent1="accent1" accent2="accent2" accent3="accent3" accent4="accent4" accent5="accent5" accent6="accent6" hlink="hlink" folHlink="folHlink"/>
  <p:sldLayoutIdLst>
    <p:sldLayoutId id="2147484134" r:id="rId1"/>
    <p:sldLayoutId id="2147484135" r:id="rId2"/>
    <p:sldLayoutId id="2147484136" r:id="rId3"/>
    <p:sldLayoutId id="2147484137" r:id="rId4"/>
    <p:sldLayoutId id="2147484138" r:id="rId5"/>
    <p:sldLayoutId id="2147484139" r:id="rId6"/>
    <p:sldLayoutId id="2147484140" r:id="rId7"/>
    <p:sldLayoutId id="2147484141" r:id="rId8"/>
    <p:sldLayoutId id="2147484142" r:id="rId9"/>
    <p:sldLayoutId id="2147484143" r:id="rId10"/>
    <p:sldLayoutId id="2147484144" r:id="rId11"/>
    <p:sldLayoutId id="2147484145" r:id="rId12"/>
    <p:sldLayoutId id="2147484146" r:id="rId13"/>
    <p:sldLayoutId id="2147484147" r:id="rId14"/>
    <p:sldLayoutId id="2147484148" r:id="rId15"/>
    <p:sldLayoutId id="2147484149" r:id="rId16"/>
    <p:sldLayoutId id="2147484150"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28B7-AD22-A330-9CDD-76F1976147C3}"/>
              </a:ext>
            </a:extLst>
          </p:cNvPr>
          <p:cNvSpPr>
            <a:spLocks noGrp="1"/>
          </p:cNvSpPr>
          <p:nvPr>
            <p:ph type="title"/>
          </p:nvPr>
        </p:nvSpPr>
        <p:spPr/>
        <p:txBody>
          <a:bodyPr>
            <a:normAutofit/>
          </a:bodyPr>
          <a:lstStyle/>
          <a:p>
            <a:r>
              <a:rPr lang="en-US" sz="3600" u="sng" dirty="0"/>
              <a:t>* </a:t>
            </a:r>
            <a:r>
              <a:rPr lang="en-US" b="1" u="sng" dirty="0"/>
              <a:t>BLINK</a:t>
            </a:r>
            <a:r>
              <a:rPr lang="en-US" b="1" u="sng" dirty="0">
                <a:solidFill>
                  <a:srgbClr val="00B050"/>
                </a:solidFill>
              </a:rPr>
              <a:t>IT</a:t>
            </a:r>
            <a:r>
              <a:rPr lang="en-US" b="1" u="sng" dirty="0"/>
              <a:t> –PRESENTATION </a:t>
            </a:r>
            <a:r>
              <a:rPr lang="en-US" sz="3600" b="1" u="sng" dirty="0"/>
              <a:t>*</a:t>
            </a:r>
            <a:endParaRPr lang="en-IN" b="1" u="sng" dirty="0"/>
          </a:p>
        </p:txBody>
      </p:sp>
      <p:sp>
        <p:nvSpPr>
          <p:cNvPr id="3" name="Content Placeholder 2">
            <a:extLst>
              <a:ext uri="{FF2B5EF4-FFF2-40B4-BE49-F238E27FC236}">
                <a16:creationId xmlns:a16="http://schemas.microsoft.com/office/drawing/2014/main" id="{CA1AD377-60C1-21C7-0C97-B733CAEF2398}"/>
              </a:ext>
            </a:extLst>
          </p:cNvPr>
          <p:cNvSpPr>
            <a:spLocks noGrp="1"/>
          </p:cNvSpPr>
          <p:nvPr>
            <p:ph idx="1"/>
          </p:nvPr>
        </p:nvSpPr>
        <p:spPr/>
        <p:txBody>
          <a:bodyPr/>
          <a:lstStyle/>
          <a:p>
            <a:r>
              <a:rPr lang="en-US" sz="2800" b="1" i="0" u="sng" dirty="0">
                <a:effectLst/>
                <a:latin typeface="__Inter_d65c78"/>
              </a:rPr>
              <a:t>Title</a:t>
            </a:r>
            <a:r>
              <a:rPr lang="en-US" sz="2800" b="1" i="0" dirty="0">
                <a:effectLst/>
                <a:latin typeface="__Inter_d65c78"/>
              </a:rPr>
              <a:t>:</a:t>
            </a:r>
            <a:r>
              <a:rPr lang="en-US" sz="2800" b="0" i="0" dirty="0">
                <a:effectLst/>
                <a:latin typeface="__Inter_d65c78"/>
              </a:rPr>
              <a:t> </a:t>
            </a:r>
            <a:r>
              <a:rPr lang="en-US" sz="2400" b="0" i="0" dirty="0">
                <a:effectLst/>
                <a:latin typeface="__Inter_d65c78"/>
              </a:rPr>
              <a:t>Analyzing </a:t>
            </a:r>
            <a:r>
              <a:rPr lang="en-US" sz="2400" dirty="0">
                <a:effectLst/>
                <a:latin typeface="__Inter_d65c78"/>
              </a:rPr>
              <a:t>Blink it</a:t>
            </a:r>
            <a:r>
              <a:rPr lang="en-US" sz="2400" b="0" i="0" dirty="0">
                <a:effectLst/>
                <a:latin typeface="__Inter_d65c78"/>
              </a:rPr>
              <a:t> Sales Data: Insights through Dashboards and Visualizations.</a:t>
            </a:r>
            <a:br>
              <a:rPr lang="en-US" dirty="0"/>
            </a:br>
            <a:r>
              <a:rPr lang="en-US" sz="2800" b="1" i="0" u="sng" dirty="0">
                <a:effectLst/>
                <a:latin typeface="__Inter_d65c78"/>
              </a:rPr>
              <a:t>Subtitle</a:t>
            </a:r>
            <a:r>
              <a:rPr lang="en-US" sz="2800" b="1" i="0" dirty="0">
                <a:effectLst/>
                <a:latin typeface="__Inter_d65c78"/>
              </a:rPr>
              <a:t>:</a:t>
            </a:r>
            <a:r>
              <a:rPr lang="en-US" sz="2800" b="0" i="0" dirty="0">
                <a:effectLst/>
                <a:latin typeface="__Inter_d65c78"/>
              </a:rPr>
              <a:t> </a:t>
            </a:r>
            <a:r>
              <a:rPr lang="en-US" b="0" i="0" dirty="0">
                <a:effectLst/>
                <a:latin typeface="__Inter_d65c78"/>
              </a:rPr>
              <a:t>Using Tableau, Power BI, Seaborn, and Matplotlib, Excel</a:t>
            </a:r>
            <a:br>
              <a:rPr lang="en-US" dirty="0"/>
            </a:br>
            <a:r>
              <a:rPr lang="en-US" sz="2800" b="1" i="0" u="sng" dirty="0">
                <a:effectLst/>
                <a:latin typeface="__Inter_d65c78"/>
              </a:rPr>
              <a:t>Presented by</a:t>
            </a:r>
            <a:r>
              <a:rPr lang="en-US" sz="2800" b="1" i="0" dirty="0">
                <a:effectLst/>
                <a:latin typeface="__Inter_d65c78"/>
              </a:rPr>
              <a:t>:</a:t>
            </a:r>
            <a:r>
              <a:rPr lang="en-US" sz="2800" b="0" i="0" dirty="0">
                <a:effectLst/>
                <a:latin typeface="__Inter_d65c78"/>
              </a:rPr>
              <a:t> </a:t>
            </a:r>
            <a:r>
              <a:rPr lang="en-US" b="0" i="0" dirty="0">
                <a:effectLst/>
                <a:latin typeface="__Inter_d65c78"/>
              </a:rPr>
              <a:t>[SHUSHREE PRANATI SWAIN]</a:t>
            </a:r>
            <a:br>
              <a:rPr lang="en-US" dirty="0"/>
            </a:br>
            <a:r>
              <a:rPr lang="en-US" sz="2800" b="1" i="0" u="sng" dirty="0">
                <a:effectLst/>
                <a:latin typeface="__Inter_d65c78"/>
              </a:rPr>
              <a:t>Date</a:t>
            </a:r>
            <a:r>
              <a:rPr lang="en-US" b="1" i="0" dirty="0">
                <a:effectLst/>
                <a:latin typeface="__Inter_d65c78"/>
              </a:rPr>
              <a:t>:</a:t>
            </a:r>
            <a:r>
              <a:rPr lang="en-US" b="0" i="0" dirty="0">
                <a:effectLst/>
                <a:latin typeface="__Inter_d65c78"/>
              </a:rPr>
              <a:t> [</a:t>
            </a:r>
            <a:r>
              <a:rPr lang="en-US" dirty="0">
                <a:effectLst/>
                <a:latin typeface="__Inter_d65c78"/>
              </a:rPr>
              <a:t>05-05-2025</a:t>
            </a:r>
            <a:r>
              <a:rPr lang="en-US" b="0" i="0" dirty="0">
                <a:effectLst/>
                <a:latin typeface="__Inter_d65c78"/>
              </a:rPr>
              <a:t>]</a:t>
            </a:r>
            <a:endParaRPr lang="en-IN" dirty="0"/>
          </a:p>
        </p:txBody>
      </p:sp>
      <p:pic>
        <p:nvPicPr>
          <p:cNvPr id="4" name="Google Shape;89;p13">
            <a:extLst>
              <a:ext uri="{FF2B5EF4-FFF2-40B4-BE49-F238E27FC236}">
                <a16:creationId xmlns:a16="http://schemas.microsoft.com/office/drawing/2014/main" id="{4E4FD74C-2326-C6FA-C267-8F048C778393}"/>
              </a:ext>
            </a:extLst>
          </p:cNvPr>
          <p:cNvPicPr preferRelativeResize="0"/>
          <p:nvPr/>
        </p:nvPicPr>
        <p:blipFill>
          <a:blip r:embed="rId2">
            <a:alphaModFix/>
          </a:blip>
          <a:stretch>
            <a:fillRect/>
          </a:stretch>
        </p:blipFill>
        <p:spPr>
          <a:xfrm>
            <a:off x="6935853" y="3785420"/>
            <a:ext cx="1883684" cy="1638513"/>
          </a:xfrm>
          <a:prstGeom prst="rect">
            <a:avLst/>
          </a:prstGeom>
          <a:noFill/>
          <a:ln>
            <a:noFill/>
          </a:ln>
        </p:spPr>
      </p:pic>
      <p:sp>
        <p:nvSpPr>
          <p:cNvPr id="5" name="Google Shape;87;p13">
            <a:extLst>
              <a:ext uri="{FF2B5EF4-FFF2-40B4-BE49-F238E27FC236}">
                <a16:creationId xmlns:a16="http://schemas.microsoft.com/office/drawing/2014/main" id="{94E9B14E-21BB-10BB-D2A5-EE7B1050B974}"/>
              </a:ext>
            </a:extLst>
          </p:cNvPr>
          <p:cNvSpPr txBox="1">
            <a:spLocks/>
          </p:cNvSpPr>
          <p:nvPr/>
        </p:nvSpPr>
        <p:spPr>
          <a:xfrm>
            <a:off x="9389806" y="3702825"/>
            <a:ext cx="2576051" cy="1031100"/>
          </a:xfrm>
          <a:prstGeom prst="rect">
            <a:avLst/>
          </a:prstGeom>
        </p:spPr>
        <p:txBody>
          <a:bodyPr spcFirstLastPara="1" vert="horz" wrap="square" lIns="91425" tIns="91425" rIns="91425" bIns="91425" rtlCol="0" anchor="t" anchorCtr="0">
            <a:normAutofit fontScale="925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pPr marL="0" indent="0">
              <a:lnSpc>
                <a:spcPct val="80000"/>
              </a:lnSpc>
              <a:spcBef>
                <a:spcPts val="0"/>
              </a:spcBef>
              <a:buClr>
                <a:schemeClr val="dk1"/>
              </a:buClr>
              <a:buSzPts val="688"/>
              <a:buFont typeface="Arial"/>
              <a:buNone/>
            </a:pPr>
            <a:r>
              <a:rPr lang="en-US" sz="2350" dirty="0">
                <a:latin typeface="+mj-lt"/>
                <a:ea typeface="Caveat"/>
                <a:cs typeface="Caveat"/>
                <a:sym typeface="Caveat"/>
              </a:rPr>
              <a:t>Guided by-</a:t>
            </a:r>
          </a:p>
          <a:p>
            <a:pPr marL="0" indent="0">
              <a:lnSpc>
                <a:spcPct val="80000"/>
              </a:lnSpc>
              <a:spcBef>
                <a:spcPts val="0"/>
              </a:spcBef>
              <a:buClr>
                <a:schemeClr val="dk1"/>
              </a:buClr>
              <a:buSzPts val="688"/>
              <a:buFont typeface="Arial"/>
              <a:buNone/>
            </a:pPr>
            <a:endParaRPr lang="en-US" sz="2350" dirty="0">
              <a:latin typeface="+mj-lt"/>
              <a:ea typeface="Caveat"/>
              <a:cs typeface="Caveat"/>
              <a:sym typeface="Caveat"/>
            </a:endParaRPr>
          </a:p>
          <a:p>
            <a:pPr marL="0" indent="0">
              <a:lnSpc>
                <a:spcPct val="80000"/>
              </a:lnSpc>
              <a:spcBef>
                <a:spcPts val="0"/>
              </a:spcBef>
              <a:buClr>
                <a:schemeClr val="dk1"/>
              </a:buClr>
              <a:buSzPts val="688"/>
              <a:buFont typeface="Arial"/>
              <a:buNone/>
            </a:pPr>
            <a:r>
              <a:rPr lang="en-US" sz="2350" dirty="0">
                <a:ea typeface="Caveat"/>
                <a:cs typeface="Caveat"/>
                <a:sym typeface="Caveat"/>
              </a:rPr>
              <a:t>Mrs. Ritu Maity </a:t>
            </a:r>
            <a:r>
              <a:rPr lang="en-US" sz="2350" i="1" u="sng" dirty="0">
                <a:latin typeface="Caveat"/>
                <a:ea typeface="Caveat"/>
                <a:cs typeface="Caveat"/>
                <a:sym typeface="Caveat"/>
              </a:rPr>
              <a:t>                                                                     </a:t>
            </a:r>
            <a:endParaRPr lang="en-US" sz="2350" dirty="0">
              <a:latin typeface="Caveat"/>
              <a:ea typeface="Caveat"/>
              <a:cs typeface="Caveat"/>
              <a:sym typeface="Caveat"/>
            </a:endParaRPr>
          </a:p>
          <a:p>
            <a:pPr marL="0" indent="0">
              <a:lnSpc>
                <a:spcPct val="80000"/>
              </a:lnSpc>
              <a:spcBef>
                <a:spcPts val="0"/>
              </a:spcBef>
              <a:buClr>
                <a:schemeClr val="dk1"/>
              </a:buClr>
              <a:buSzPts val="688"/>
              <a:buFont typeface="Arial"/>
              <a:buNone/>
            </a:pPr>
            <a:r>
              <a:rPr lang="en-US" sz="2350" i="1" u="sng" dirty="0">
                <a:latin typeface="Caveat"/>
                <a:ea typeface="Caveat"/>
                <a:cs typeface="Caveat"/>
                <a:sym typeface="Caveat"/>
              </a:rPr>
              <a:t>           </a:t>
            </a:r>
            <a:endParaRPr lang="en-US" sz="412" i="1" u="sng" dirty="0">
              <a:latin typeface="Caveat"/>
              <a:ea typeface="Caveat"/>
              <a:cs typeface="Caveat"/>
              <a:sym typeface="Caveat"/>
            </a:endParaRPr>
          </a:p>
        </p:txBody>
      </p:sp>
      <p:pic>
        <p:nvPicPr>
          <p:cNvPr id="8" name="Graphic 49" descr="Atom with solid fill">
            <a:extLst>
              <a:ext uri="{FF2B5EF4-FFF2-40B4-BE49-F238E27FC236}">
                <a16:creationId xmlns:a16="http://schemas.microsoft.com/office/drawing/2014/main" id="{BD353F61-EFBA-B3B1-D0D5-C3D66D5B06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3795" y="777544"/>
            <a:ext cx="1880017" cy="990431"/>
          </a:xfrm>
          <a:prstGeom prst="rect">
            <a:avLst/>
          </a:prstGeom>
        </p:spPr>
      </p:pic>
    </p:spTree>
    <p:extLst>
      <p:ext uri="{BB962C8B-B14F-4D97-AF65-F5344CB8AC3E}">
        <p14:creationId xmlns:p14="http://schemas.microsoft.com/office/powerpoint/2010/main" val="237237794"/>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E1F957-C596-2CBA-B082-C1D0BC8091B5}"/>
              </a:ext>
            </a:extLst>
          </p:cNvPr>
          <p:cNvSpPr txBox="1"/>
          <p:nvPr/>
        </p:nvSpPr>
        <p:spPr>
          <a:xfrm>
            <a:off x="1465006" y="580103"/>
            <a:ext cx="3510117" cy="584775"/>
          </a:xfrm>
          <a:prstGeom prst="rect">
            <a:avLst/>
          </a:prstGeom>
          <a:noFill/>
        </p:spPr>
        <p:txBody>
          <a:bodyPr wrap="square" rtlCol="0">
            <a:spAutoFit/>
          </a:bodyPr>
          <a:lstStyle/>
          <a:p>
            <a:r>
              <a:rPr lang="en-IN" b="1" i="0" dirty="0">
                <a:solidFill>
                  <a:srgbClr val="111827"/>
                </a:solidFill>
                <a:effectLst/>
                <a:latin typeface="__Inter_d65c78"/>
              </a:rPr>
              <a:t> </a:t>
            </a:r>
            <a:r>
              <a:rPr lang="en-IN" sz="3200" b="1" i="1" u="sng" dirty="0">
                <a:effectLst>
                  <a:outerShdw blurRad="38100" dist="38100" dir="2700000" algn="tl">
                    <a:srgbClr val="000000">
                      <a:alpha val="43137"/>
                    </a:srgbClr>
                  </a:outerShdw>
                </a:effectLst>
                <a:latin typeface="__Inter_d65c78"/>
              </a:rPr>
              <a:t>Dataset Overview:</a:t>
            </a:r>
          </a:p>
        </p:txBody>
      </p:sp>
      <p:sp>
        <p:nvSpPr>
          <p:cNvPr id="3" name="TextBox 2">
            <a:extLst>
              <a:ext uri="{FF2B5EF4-FFF2-40B4-BE49-F238E27FC236}">
                <a16:creationId xmlns:a16="http://schemas.microsoft.com/office/drawing/2014/main" id="{71B0449E-5E45-FB87-0F6D-C46A2A0C9123}"/>
              </a:ext>
            </a:extLst>
          </p:cNvPr>
          <p:cNvSpPr txBox="1"/>
          <p:nvPr/>
        </p:nvSpPr>
        <p:spPr>
          <a:xfrm>
            <a:off x="2497394" y="1563329"/>
            <a:ext cx="5968180" cy="5078313"/>
          </a:xfrm>
          <a:prstGeom prst="rect">
            <a:avLst/>
          </a:prstGeom>
          <a:noFill/>
        </p:spPr>
        <p:txBody>
          <a:bodyPr wrap="square" rtlCol="0">
            <a:spAutoFit/>
          </a:bodyPr>
          <a:lstStyle/>
          <a:p>
            <a:pPr algn="l">
              <a:buFont typeface="Arial" panose="020B0604020202020204" pitchFamily="34" charset="0"/>
              <a:buChar char="•"/>
            </a:pPr>
            <a:r>
              <a:rPr lang="en-IN" b="1" i="0" dirty="0">
                <a:effectLst/>
                <a:latin typeface="__Inter_d65c78"/>
              </a:rPr>
              <a:t>Source:</a:t>
            </a:r>
            <a:r>
              <a:rPr lang="en-IN" b="0" i="0" dirty="0">
                <a:effectLst/>
                <a:latin typeface="__Inter_d65c78"/>
              </a:rPr>
              <a:t> CSV file containing grocery sales data.</a:t>
            </a:r>
          </a:p>
          <a:p>
            <a:pPr algn="l">
              <a:buFont typeface="Arial" panose="020B0604020202020204" pitchFamily="34" charset="0"/>
              <a:buChar char="•"/>
            </a:pPr>
            <a:r>
              <a:rPr lang="en-IN" b="1" i="0" dirty="0">
                <a:effectLst/>
                <a:latin typeface="__Inter_d65c78"/>
              </a:rPr>
              <a:t>Total Records:</a:t>
            </a:r>
            <a:r>
              <a:rPr lang="en-IN" b="0" i="0" dirty="0">
                <a:effectLst/>
                <a:latin typeface="__Inter_d65c78"/>
              </a:rPr>
              <a:t> [</a:t>
            </a:r>
            <a:r>
              <a:rPr lang="en-US" sz="1800" b="0" i="0" dirty="0">
                <a:effectLst/>
                <a:latin typeface="__Inter_d65c78"/>
              </a:rPr>
              <a:t>8,523 </a:t>
            </a:r>
            <a:r>
              <a:rPr lang="en-IN" b="0" i="0" dirty="0">
                <a:effectLst/>
                <a:latin typeface="__Inter_d65c78"/>
              </a:rPr>
              <a:t>number of records]</a:t>
            </a:r>
          </a:p>
          <a:p>
            <a:pPr algn="l">
              <a:buFont typeface="Arial" panose="020B0604020202020204" pitchFamily="34" charset="0"/>
              <a:buChar char="•"/>
            </a:pPr>
            <a:r>
              <a:rPr lang="en-IN" b="1" i="0" dirty="0">
                <a:effectLst/>
                <a:latin typeface="__Inter_d65c78"/>
              </a:rPr>
              <a:t>Key Columns:</a:t>
            </a:r>
            <a:endParaRPr lang="en-IN" b="0" i="0" dirty="0">
              <a:effectLst/>
              <a:latin typeface="__Inter_d65c78"/>
            </a:endParaRPr>
          </a:p>
          <a:p>
            <a:pPr marL="742950" lvl="1" indent="-285750" algn="l">
              <a:buFont typeface="Arial" panose="020B0604020202020204" pitchFamily="34" charset="0"/>
              <a:buChar char="•"/>
            </a:pPr>
            <a:r>
              <a:rPr lang="en-IN" b="0" i="0" dirty="0">
                <a:effectLst/>
                <a:latin typeface="__Inter_d65c78"/>
              </a:rPr>
              <a:t>Item Identifier</a:t>
            </a:r>
          </a:p>
          <a:p>
            <a:pPr marL="742950" lvl="1" indent="-285750" algn="l">
              <a:buFont typeface="Arial" panose="020B0604020202020204" pitchFamily="34" charset="0"/>
              <a:buChar char="•"/>
            </a:pPr>
            <a:r>
              <a:rPr lang="en-IN" b="0" i="0" dirty="0">
                <a:effectLst/>
                <a:latin typeface="__Inter_d65c78"/>
              </a:rPr>
              <a:t>Item Weight</a:t>
            </a:r>
          </a:p>
          <a:p>
            <a:pPr marL="742950" lvl="1" indent="-285750" algn="l">
              <a:buFont typeface="Arial" panose="020B0604020202020204" pitchFamily="34" charset="0"/>
              <a:buChar char="•"/>
            </a:pPr>
            <a:r>
              <a:rPr lang="en-IN" b="0" i="0" dirty="0">
                <a:effectLst/>
                <a:latin typeface="__Inter_d65c78"/>
              </a:rPr>
              <a:t>Item</a:t>
            </a:r>
            <a:r>
              <a:rPr lang="en-IN" dirty="0">
                <a:latin typeface="__Inter_d65c78"/>
              </a:rPr>
              <a:t> </a:t>
            </a:r>
            <a:r>
              <a:rPr lang="en-IN" b="0" i="0" dirty="0">
                <a:effectLst/>
                <a:latin typeface="__Inter_d65c78"/>
              </a:rPr>
              <a:t>Fat Content</a:t>
            </a:r>
          </a:p>
          <a:p>
            <a:pPr marL="742950" lvl="1" indent="-285750" algn="l">
              <a:buFont typeface="Arial" panose="020B0604020202020204" pitchFamily="34" charset="0"/>
              <a:buChar char="•"/>
            </a:pPr>
            <a:r>
              <a:rPr lang="en-IN" b="0" i="0" dirty="0">
                <a:effectLst/>
                <a:latin typeface="__Inter_d65c78"/>
              </a:rPr>
              <a:t>Item Visibility</a:t>
            </a:r>
          </a:p>
          <a:p>
            <a:pPr marL="742950" lvl="1" indent="-285750" algn="l">
              <a:buFont typeface="Arial" panose="020B0604020202020204" pitchFamily="34" charset="0"/>
              <a:buChar char="•"/>
            </a:pPr>
            <a:r>
              <a:rPr lang="en-IN" b="0" i="0" dirty="0">
                <a:effectLst/>
                <a:latin typeface="__Inter_d65c78"/>
              </a:rPr>
              <a:t>Item Type</a:t>
            </a:r>
          </a:p>
          <a:p>
            <a:pPr marL="742950" lvl="1" indent="-285750" algn="l">
              <a:buFont typeface="Arial" panose="020B0604020202020204" pitchFamily="34" charset="0"/>
              <a:buChar char="•"/>
            </a:pPr>
            <a:r>
              <a:rPr lang="en-IN" b="0" i="0" dirty="0">
                <a:effectLst/>
                <a:latin typeface="__Inter_d65c78"/>
              </a:rPr>
              <a:t>Outlet</a:t>
            </a:r>
            <a:r>
              <a:rPr lang="en-IN" dirty="0">
                <a:latin typeface="__Inter_d65c78"/>
              </a:rPr>
              <a:t> </a:t>
            </a:r>
            <a:r>
              <a:rPr lang="en-IN" b="0" i="0" dirty="0">
                <a:effectLst/>
                <a:latin typeface="__Inter_d65c78"/>
              </a:rPr>
              <a:t>Identifier</a:t>
            </a:r>
          </a:p>
          <a:p>
            <a:pPr marL="742950" lvl="1" indent="-285750" algn="l">
              <a:buFont typeface="Arial" panose="020B0604020202020204" pitchFamily="34" charset="0"/>
              <a:buChar char="•"/>
            </a:pPr>
            <a:r>
              <a:rPr lang="en-IN" b="0" i="0" dirty="0">
                <a:effectLst/>
                <a:latin typeface="__Inter_d65c78"/>
              </a:rPr>
              <a:t>Outlet Establishment</a:t>
            </a:r>
            <a:r>
              <a:rPr lang="en-IN" dirty="0">
                <a:latin typeface="__Inter_d65c78"/>
              </a:rPr>
              <a:t> </a:t>
            </a:r>
            <a:r>
              <a:rPr lang="en-IN" b="0" i="0" dirty="0">
                <a:effectLst/>
                <a:latin typeface="__Inter_d65c78"/>
              </a:rPr>
              <a:t>Year</a:t>
            </a:r>
          </a:p>
          <a:p>
            <a:pPr marL="742950" lvl="1" indent="-285750" algn="l">
              <a:buFont typeface="Arial" panose="020B0604020202020204" pitchFamily="34" charset="0"/>
              <a:buChar char="•"/>
            </a:pPr>
            <a:r>
              <a:rPr lang="en-IN" b="0" i="0" dirty="0">
                <a:effectLst/>
                <a:latin typeface="__Inter_d65c78"/>
              </a:rPr>
              <a:t>Outlet Size</a:t>
            </a:r>
          </a:p>
          <a:p>
            <a:pPr marL="742950" lvl="1" indent="-285750" algn="l">
              <a:buFont typeface="Arial" panose="020B0604020202020204" pitchFamily="34" charset="0"/>
              <a:buChar char="•"/>
            </a:pPr>
            <a:r>
              <a:rPr lang="en-IN" b="0" i="0" dirty="0">
                <a:effectLst/>
                <a:latin typeface="__Inter_d65c78"/>
              </a:rPr>
              <a:t>Outlet Location</a:t>
            </a:r>
            <a:r>
              <a:rPr lang="en-IN" dirty="0">
                <a:latin typeface="__Inter_d65c78"/>
              </a:rPr>
              <a:t> </a:t>
            </a:r>
            <a:r>
              <a:rPr lang="en-IN" b="0" i="0" dirty="0">
                <a:effectLst/>
                <a:latin typeface="__Inter_d65c78"/>
              </a:rPr>
              <a:t>Type</a:t>
            </a:r>
          </a:p>
          <a:p>
            <a:pPr marL="742950" lvl="1" indent="-285750" algn="l">
              <a:buFont typeface="Arial" panose="020B0604020202020204" pitchFamily="34" charset="0"/>
              <a:buChar char="•"/>
            </a:pPr>
            <a:r>
              <a:rPr lang="en-IN" b="0" i="0" dirty="0">
                <a:effectLst/>
                <a:latin typeface="__Inter_d65c78"/>
              </a:rPr>
              <a:t>Outlet Type</a:t>
            </a:r>
          </a:p>
          <a:p>
            <a:pPr marL="742950" lvl="1" indent="-285750" algn="l">
              <a:buFont typeface="Arial" panose="020B0604020202020204" pitchFamily="34" charset="0"/>
              <a:buChar char="•"/>
            </a:pPr>
            <a:r>
              <a:rPr lang="en-IN" b="0" i="0" dirty="0">
                <a:effectLst/>
                <a:latin typeface="__Inter_d65c78"/>
              </a:rPr>
              <a:t>Item Outlet</a:t>
            </a:r>
            <a:r>
              <a:rPr lang="en-IN" dirty="0">
                <a:latin typeface="__Inter_d65c78"/>
              </a:rPr>
              <a:t> </a:t>
            </a:r>
            <a:r>
              <a:rPr lang="en-IN" b="0" i="0" dirty="0">
                <a:effectLst/>
                <a:latin typeface="__Inter_d65c78"/>
              </a:rPr>
              <a:t>Sales</a:t>
            </a:r>
          </a:p>
          <a:p>
            <a:pPr marL="742950" lvl="1" indent="-285750" algn="l">
              <a:buFont typeface="Arial" panose="020B0604020202020204" pitchFamily="34" charset="0"/>
              <a:buChar char="•"/>
            </a:pPr>
            <a:r>
              <a:rPr lang="en-IN" dirty="0">
                <a:latin typeface="__Inter_d65c78"/>
              </a:rPr>
              <a:t>Sales</a:t>
            </a:r>
          </a:p>
          <a:p>
            <a:pPr marL="742950" lvl="1" indent="-285750" algn="l">
              <a:buFont typeface="Arial" panose="020B0604020202020204" pitchFamily="34" charset="0"/>
              <a:buChar char="•"/>
            </a:pPr>
            <a:r>
              <a:rPr lang="en-IN" b="0" i="0" dirty="0">
                <a:effectLst/>
                <a:latin typeface="__Inter_d65c78"/>
              </a:rPr>
              <a:t>Rating</a:t>
            </a:r>
          </a:p>
          <a:p>
            <a:pPr>
              <a:buNone/>
            </a:pPr>
            <a:br>
              <a:rPr lang="en-IN" dirty="0"/>
            </a:br>
            <a:endParaRPr lang="en-IN" dirty="0"/>
          </a:p>
        </p:txBody>
      </p:sp>
      <p:pic>
        <p:nvPicPr>
          <p:cNvPr id="7" name="Graphic 57" descr="Shopping cart with solid fill">
            <a:extLst>
              <a:ext uri="{FF2B5EF4-FFF2-40B4-BE49-F238E27FC236}">
                <a16:creationId xmlns:a16="http://schemas.microsoft.com/office/drawing/2014/main" id="{6F748F97-D89A-BB75-F9F0-DDCB6BEF20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58727" y="580103"/>
            <a:ext cx="1552033" cy="914957"/>
          </a:xfrm>
          <a:prstGeom prst="rect">
            <a:avLst/>
          </a:prstGeom>
        </p:spPr>
      </p:pic>
    </p:spTree>
    <p:extLst>
      <p:ext uri="{BB962C8B-B14F-4D97-AF65-F5344CB8AC3E}">
        <p14:creationId xmlns:p14="http://schemas.microsoft.com/office/powerpoint/2010/main" val="149095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70B42-AD2D-2CE9-FF3A-B656775E05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CF8775-9110-F889-D44D-35A731E3931F}"/>
              </a:ext>
            </a:extLst>
          </p:cNvPr>
          <p:cNvSpPr txBox="1"/>
          <p:nvPr/>
        </p:nvSpPr>
        <p:spPr>
          <a:xfrm>
            <a:off x="1484671" y="540774"/>
            <a:ext cx="4729316" cy="584775"/>
          </a:xfrm>
          <a:prstGeom prst="rect">
            <a:avLst/>
          </a:prstGeom>
          <a:noFill/>
        </p:spPr>
        <p:txBody>
          <a:bodyPr wrap="square" rtlCol="0">
            <a:spAutoFit/>
          </a:bodyPr>
          <a:lstStyle/>
          <a:p>
            <a:r>
              <a:rPr lang="en-IN" sz="3200" b="1" i="1" u="sng" dirty="0">
                <a:effectLst>
                  <a:outerShdw blurRad="38100" dist="38100" dir="2700000" algn="tl">
                    <a:srgbClr val="000000">
                      <a:alpha val="43137"/>
                    </a:srgbClr>
                  </a:outerShdw>
                </a:effectLst>
                <a:latin typeface="__Inter_d65c78"/>
              </a:rPr>
              <a:t>Column Descriptions:</a:t>
            </a:r>
          </a:p>
        </p:txBody>
      </p:sp>
      <p:sp>
        <p:nvSpPr>
          <p:cNvPr id="3" name="TextBox 2">
            <a:extLst>
              <a:ext uri="{FF2B5EF4-FFF2-40B4-BE49-F238E27FC236}">
                <a16:creationId xmlns:a16="http://schemas.microsoft.com/office/drawing/2014/main" id="{68138D24-63FB-94B5-DDA5-98F591AB4648}"/>
              </a:ext>
            </a:extLst>
          </p:cNvPr>
          <p:cNvSpPr txBox="1"/>
          <p:nvPr/>
        </p:nvSpPr>
        <p:spPr>
          <a:xfrm>
            <a:off x="2497394" y="1563329"/>
            <a:ext cx="5968180" cy="923330"/>
          </a:xfrm>
          <a:prstGeom prst="rect">
            <a:avLst/>
          </a:prstGeom>
          <a:noFill/>
        </p:spPr>
        <p:txBody>
          <a:bodyPr wrap="square" rtlCol="0">
            <a:spAutoFit/>
          </a:bodyPr>
          <a:lstStyle/>
          <a:p>
            <a:pPr algn="l"/>
            <a:endParaRPr lang="en-US" b="0" i="0" dirty="0">
              <a:effectLst/>
              <a:latin typeface="__Inter_d65c78"/>
            </a:endParaRPr>
          </a:p>
          <a:p>
            <a:pPr>
              <a:buNone/>
            </a:pPr>
            <a:br>
              <a:rPr lang="en-IN" dirty="0"/>
            </a:br>
            <a:endParaRPr lang="en-IN" dirty="0"/>
          </a:p>
        </p:txBody>
      </p:sp>
      <p:sp>
        <p:nvSpPr>
          <p:cNvPr id="4" name="TextBox 3">
            <a:extLst>
              <a:ext uri="{FF2B5EF4-FFF2-40B4-BE49-F238E27FC236}">
                <a16:creationId xmlns:a16="http://schemas.microsoft.com/office/drawing/2014/main" id="{D71315D5-90C3-8BDB-A260-AFCB2FD4788A}"/>
              </a:ext>
            </a:extLst>
          </p:cNvPr>
          <p:cNvSpPr txBox="1"/>
          <p:nvPr/>
        </p:nvSpPr>
        <p:spPr>
          <a:xfrm>
            <a:off x="914401" y="1346117"/>
            <a:ext cx="10368116" cy="1261884"/>
          </a:xfrm>
          <a:prstGeom prst="rect">
            <a:avLst/>
          </a:prstGeom>
          <a:noFill/>
        </p:spPr>
        <p:txBody>
          <a:bodyPr wrap="square" rtlCol="0">
            <a:spAutoFit/>
          </a:bodyPr>
          <a:lstStyle/>
          <a:p>
            <a:pPr algn="l">
              <a:buNone/>
            </a:pPr>
            <a:r>
              <a:rPr lang="en-US" b="1" i="0" dirty="0">
                <a:solidFill>
                  <a:srgbClr val="111827"/>
                </a:solidFill>
                <a:effectLst/>
                <a:latin typeface="__Inter_d65c78"/>
              </a:rPr>
              <a:t> </a:t>
            </a:r>
            <a:r>
              <a:rPr lang="en-US" sz="2000" b="1" i="1" u="sng" dirty="0">
                <a:effectLst/>
                <a:latin typeface="__Inter_d65c78"/>
              </a:rPr>
              <a:t>Item Identifier:</a:t>
            </a:r>
          </a:p>
          <a:p>
            <a:r>
              <a:rPr lang="en-IN" sz="2000" b="1" i="0" dirty="0">
                <a:effectLst/>
                <a:latin typeface="__Inter_d65c78"/>
              </a:rPr>
              <a:t>Categories:</a:t>
            </a:r>
            <a:r>
              <a:rPr lang="en-US" sz="2000" i="1" dirty="0">
                <a:latin typeface="__Inter_d65c78"/>
              </a:rPr>
              <a:t>Ex-</a:t>
            </a:r>
            <a:r>
              <a:rPr lang="en-US" sz="2000" i="1" dirty="0">
                <a:effectLst/>
                <a:latin typeface="__Inter_d65c78"/>
              </a:rPr>
              <a:t>FDX32, NCB42</a:t>
            </a:r>
          </a:p>
          <a:p>
            <a:pPr marL="742950" lvl="1" indent="-285750">
              <a:buFont typeface="Arial" panose="020B0604020202020204" pitchFamily="34" charset="0"/>
              <a:buChar char="•"/>
            </a:pPr>
            <a:r>
              <a:rPr lang="en-US" i="1" dirty="0">
                <a:effectLst/>
                <a:latin typeface="__Inter_d65c78"/>
              </a:rPr>
              <a:t>Helps in tracking and analyzing individual product sales. </a:t>
            </a:r>
          </a:p>
          <a:p>
            <a:endParaRPr lang="en-IN" dirty="0"/>
          </a:p>
        </p:txBody>
      </p:sp>
      <p:sp>
        <p:nvSpPr>
          <p:cNvPr id="5" name="TextBox 4">
            <a:extLst>
              <a:ext uri="{FF2B5EF4-FFF2-40B4-BE49-F238E27FC236}">
                <a16:creationId xmlns:a16="http://schemas.microsoft.com/office/drawing/2014/main" id="{AF6CDF3F-5500-8519-D8B7-E2BCAB459443}"/>
              </a:ext>
            </a:extLst>
          </p:cNvPr>
          <p:cNvSpPr txBox="1"/>
          <p:nvPr/>
        </p:nvSpPr>
        <p:spPr>
          <a:xfrm>
            <a:off x="983226" y="2667897"/>
            <a:ext cx="9301316" cy="1538883"/>
          </a:xfrm>
          <a:prstGeom prst="rect">
            <a:avLst/>
          </a:prstGeom>
          <a:noFill/>
        </p:spPr>
        <p:txBody>
          <a:bodyPr wrap="square" rtlCol="0">
            <a:spAutoFit/>
          </a:bodyPr>
          <a:lstStyle/>
          <a:p>
            <a:pPr algn="l"/>
            <a:r>
              <a:rPr lang="en-IN" sz="2000" b="1" i="1" u="sng" dirty="0">
                <a:effectLst/>
                <a:latin typeface="__Inter_d65c78"/>
              </a:rPr>
              <a:t>Item Fat</a:t>
            </a:r>
            <a:r>
              <a:rPr lang="en-IN" sz="2000" b="1" i="1" u="sng" dirty="0">
                <a:latin typeface="__Inter_d65c78"/>
              </a:rPr>
              <a:t> </a:t>
            </a:r>
            <a:r>
              <a:rPr lang="en-IN" sz="2000" b="1" i="1" u="sng" dirty="0">
                <a:effectLst/>
                <a:latin typeface="__Inter_d65c78"/>
              </a:rPr>
              <a:t>Content:</a:t>
            </a:r>
          </a:p>
          <a:p>
            <a:pPr algn="l">
              <a:buFont typeface="Arial" panose="020B0604020202020204" pitchFamily="34" charset="0"/>
              <a:buChar char="•"/>
            </a:pPr>
            <a:r>
              <a:rPr lang="en-US" b="1" i="0" dirty="0">
                <a:effectLst/>
                <a:latin typeface="__Inter_d65c78"/>
              </a:rPr>
              <a:t>Categories:</a:t>
            </a:r>
            <a:endParaRPr lang="en-US" b="0" i="0" dirty="0">
              <a:effectLst/>
              <a:latin typeface="__Inter_d65c78"/>
            </a:endParaRPr>
          </a:p>
          <a:p>
            <a:pPr marL="742950" lvl="1" indent="-285750">
              <a:buFont typeface="Arial" panose="020B0604020202020204" pitchFamily="34" charset="0"/>
              <a:buChar char="•"/>
            </a:pPr>
            <a:r>
              <a:rPr lang="en-US" b="0" i="0" dirty="0">
                <a:effectLst/>
                <a:latin typeface="__Inter_d65c78"/>
              </a:rPr>
              <a:t>Regular, Low Fat</a:t>
            </a:r>
          </a:p>
          <a:p>
            <a:pPr marL="742950" lvl="1" indent="-285750" algn="l">
              <a:buFont typeface="Arial" panose="020B0604020202020204" pitchFamily="34" charset="0"/>
              <a:buChar char="•"/>
            </a:pPr>
            <a:r>
              <a:rPr lang="en-US" b="0" i="0" dirty="0">
                <a:effectLst/>
                <a:latin typeface="__Inter_d65c78"/>
              </a:rPr>
              <a:t>Useful for understanding consumer preferences and dietary trends.</a:t>
            </a:r>
          </a:p>
          <a:p>
            <a:pPr marL="342900" indent="-342900" algn="l">
              <a:buFont typeface="Arial" panose="020B0604020202020204" pitchFamily="34" charset="0"/>
              <a:buChar char="•"/>
            </a:pPr>
            <a:endParaRPr lang="en-IN" sz="2000" b="1" i="1" u="sng" dirty="0">
              <a:effectLst/>
              <a:latin typeface="__Inter_d65c78"/>
            </a:endParaRPr>
          </a:p>
        </p:txBody>
      </p:sp>
      <p:sp>
        <p:nvSpPr>
          <p:cNvPr id="6" name="TextBox 5">
            <a:extLst>
              <a:ext uri="{FF2B5EF4-FFF2-40B4-BE49-F238E27FC236}">
                <a16:creationId xmlns:a16="http://schemas.microsoft.com/office/drawing/2014/main" id="{16651D0E-5C7D-E387-2A57-CF7FBE2EF171}"/>
              </a:ext>
            </a:extLst>
          </p:cNvPr>
          <p:cNvSpPr txBox="1"/>
          <p:nvPr/>
        </p:nvSpPr>
        <p:spPr>
          <a:xfrm>
            <a:off x="983226" y="4125120"/>
            <a:ext cx="7138219" cy="2339102"/>
          </a:xfrm>
          <a:prstGeom prst="rect">
            <a:avLst/>
          </a:prstGeom>
          <a:noFill/>
        </p:spPr>
        <p:txBody>
          <a:bodyPr wrap="square" rtlCol="0">
            <a:spAutoFit/>
          </a:bodyPr>
          <a:lstStyle/>
          <a:p>
            <a:pPr algn="l">
              <a:buNone/>
            </a:pPr>
            <a:r>
              <a:rPr lang="en-IN" sz="2000" b="1" i="1" u="sng" dirty="0">
                <a:effectLst>
                  <a:outerShdw blurRad="38100" dist="38100" dir="2700000" algn="tl">
                    <a:srgbClr val="000000">
                      <a:alpha val="43137"/>
                    </a:srgbClr>
                  </a:outerShdw>
                </a:effectLst>
                <a:latin typeface="__Inter_d65c78"/>
              </a:rPr>
              <a:t>Item Type:</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category or type of product.</a:t>
            </a:r>
          </a:p>
          <a:p>
            <a:pPr algn="l">
              <a:buFont typeface="Arial" panose="020B0604020202020204" pitchFamily="34" charset="0"/>
              <a:buChar char="•"/>
            </a:pPr>
            <a:r>
              <a:rPr lang="en-US" b="1" i="0" dirty="0">
                <a:effectLst/>
                <a:latin typeface="__Inter_d65c78"/>
              </a:rPr>
              <a:t>Examples:</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Fruits and Vegetables, Health and Hygiene, Frozen Foods, Canned, Soft Drinks, Snack Foods, Dairy.</a:t>
            </a:r>
          </a:p>
          <a:p>
            <a:pPr>
              <a:buNone/>
            </a:pPr>
            <a:br>
              <a:rPr lang="en-US" dirty="0"/>
            </a:br>
            <a:endParaRPr lang="en-IN" b="1" dirty="0">
              <a:latin typeface="__Inter_d65c78"/>
            </a:endParaRPr>
          </a:p>
        </p:txBody>
      </p:sp>
    </p:spTree>
    <p:extLst>
      <p:ext uri="{BB962C8B-B14F-4D97-AF65-F5344CB8AC3E}">
        <p14:creationId xmlns:p14="http://schemas.microsoft.com/office/powerpoint/2010/main" val="1269446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7CC26-3B5D-85A9-B6E9-E189EF20B6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3B211A-69AA-662F-7E3A-A1EF4D39769F}"/>
              </a:ext>
            </a:extLst>
          </p:cNvPr>
          <p:cNvSpPr txBox="1"/>
          <p:nvPr/>
        </p:nvSpPr>
        <p:spPr>
          <a:xfrm>
            <a:off x="1484671" y="540774"/>
            <a:ext cx="4729316" cy="584775"/>
          </a:xfrm>
          <a:prstGeom prst="rect">
            <a:avLst/>
          </a:prstGeom>
          <a:noFill/>
        </p:spPr>
        <p:txBody>
          <a:bodyPr wrap="square" rtlCol="0">
            <a:spAutoFit/>
          </a:bodyPr>
          <a:lstStyle/>
          <a:p>
            <a:r>
              <a:rPr lang="en-IN" sz="3200" b="1" i="1" u="sng" dirty="0">
                <a:effectLst>
                  <a:outerShdw blurRad="38100" dist="38100" dir="2700000" algn="tl">
                    <a:srgbClr val="000000">
                      <a:alpha val="43137"/>
                    </a:srgbClr>
                  </a:outerShdw>
                </a:effectLst>
                <a:latin typeface="__Inter_d65c78"/>
              </a:rPr>
              <a:t>Column Descriptions:</a:t>
            </a:r>
          </a:p>
        </p:txBody>
      </p:sp>
      <p:sp>
        <p:nvSpPr>
          <p:cNvPr id="3" name="TextBox 2">
            <a:extLst>
              <a:ext uri="{FF2B5EF4-FFF2-40B4-BE49-F238E27FC236}">
                <a16:creationId xmlns:a16="http://schemas.microsoft.com/office/drawing/2014/main" id="{32B2470D-9B5B-1AB6-75B0-835D930ED828}"/>
              </a:ext>
            </a:extLst>
          </p:cNvPr>
          <p:cNvSpPr txBox="1"/>
          <p:nvPr/>
        </p:nvSpPr>
        <p:spPr>
          <a:xfrm>
            <a:off x="2497394" y="1563329"/>
            <a:ext cx="5968180" cy="923330"/>
          </a:xfrm>
          <a:prstGeom prst="rect">
            <a:avLst/>
          </a:prstGeom>
          <a:noFill/>
        </p:spPr>
        <p:txBody>
          <a:bodyPr wrap="square" rtlCol="0">
            <a:spAutoFit/>
          </a:bodyPr>
          <a:lstStyle/>
          <a:p>
            <a:pPr algn="l"/>
            <a:endParaRPr lang="en-US" b="0" i="0" dirty="0">
              <a:effectLst/>
              <a:latin typeface="__Inter_d65c78"/>
            </a:endParaRPr>
          </a:p>
          <a:p>
            <a:pPr>
              <a:buNone/>
            </a:pPr>
            <a:br>
              <a:rPr lang="en-IN" dirty="0"/>
            </a:br>
            <a:endParaRPr lang="en-IN" dirty="0"/>
          </a:p>
        </p:txBody>
      </p:sp>
      <p:sp>
        <p:nvSpPr>
          <p:cNvPr id="4" name="TextBox 3">
            <a:extLst>
              <a:ext uri="{FF2B5EF4-FFF2-40B4-BE49-F238E27FC236}">
                <a16:creationId xmlns:a16="http://schemas.microsoft.com/office/drawing/2014/main" id="{A81BD393-2FC4-418D-26DE-DDDC8824FF0C}"/>
              </a:ext>
            </a:extLst>
          </p:cNvPr>
          <p:cNvSpPr txBox="1"/>
          <p:nvPr/>
        </p:nvSpPr>
        <p:spPr>
          <a:xfrm>
            <a:off x="830826" y="1209061"/>
            <a:ext cx="5864942" cy="1754326"/>
          </a:xfrm>
          <a:prstGeom prst="rect">
            <a:avLst/>
          </a:prstGeom>
          <a:noFill/>
        </p:spPr>
        <p:txBody>
          <a:bodyPr wrap="square" rtlCol="0">
            <a:spAutoFit/>
          </a:bodyPr>
          <a:lstStyle/>
          <a:p>
            <a:pPr algn="l">
              <a:buNone/>
            </a:pPr>
            <a:r>
              <a:rPr lang="en-US" b="1" i="0" dirty="0">
                <a:solidFill>
                  <a:srgbClr val="111827"/>
                </a:solidFill>
                <a:effectLst/>
                <a:latin typeface="__Inter_d65c78"/>
              </a:rPr>
              <a:t> </a:t>
            </a:r>
            <a:r>
              <a:rPr lang="en-US" b="1" i="0" u="sng" dirty="0">
                <a:effectLst/>
                <a:latin typeface="__Inter_d65c78"/>
              </a:rPr>
              <a:t>Outlet Establishment</a:t>
            </a:r>
            <a:r>
              <a:rPr lang="en-US" b="1" u="sng" dirty="0">
                <a:latin typeface="__Inter_d65c78"/>
              </a:rPr>
              <a:t> </a:t>
            </a:r>
            <a:r>
              <a:rPr lang="en-US" b="1" i="0" u="sng" dirty="0">
                <a:effectLst/>
                <a:latin typeface="__Inter_d65c78"/>
              </a:rPr>
              <a:t>Year</a:t>
            </a:r>
          </a:p>
          <a:p>
            <a:pPr marL="742950" lvl="1" indent="-285750"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1143000" lvl="2" indent="-228600" algn="l">
              <a:buFont typeface="Arial" panose="020B0604020202020204" pitchFamily="34" charset="0"/>
              <a:buChar char="•"/>
            </a:pPr>
            <a:r>
              <a:rPr lang="en-US" b="0" i="0" dirty="0">
                <a:effectLst/>
                <a:latin typeface="__Inter_d65c78"/>
              </a:rPr>
              <a:t>The year in which the store was established</a:t>
            </a:r>
            <a:r>
              <a:rPr lang="en-US" b="0" i="0" dirty="0">
                <a:solidFill>
                  <a:srgbClr val="374151"/>
                </a:solidFill>
                <a:effectLst/>
                <a:latin typeface="__Inter_d65c78"/>
              </a:rPr>
              <a:t>.</a:t>
            </a:r>
          </a:p>
          <a:p>
            <a:pPr>
              <a:buNone/>
            </a:pPr>
            <a:br>
              <a:rPr lang="en-US" b="0" i="0" dirty="0">
                <a:solidFill>
                  <a:srgbClr val="374151"/>
                </a:solidFill>
                <a:effectLst/>
                <a:latin typeface="__Inter_d65c78"/>
              </a:rPr>
            </a:br>
            <a:r>
              <a:rPr lang="en-US" i="1" dirty="0">
                <a:effectLst/>
                <a:latin typeface="__Inter_d65c78"/>
              </a:rPr>
              <a:t> </a:t>
            </a:r>
          </a:p>
          <a:p>
            <a:endParaRPr lang="en-IN" dirty="0"/>
          </a:p>
        </p:txBody>
      </p:sp>
      <p:sp>
        <p:nvSpPr>
          <p:cNvPr id="5" name="TextBox 4">
            <a:extLst>
              <a:ext uri="{FF2B5EF4-FFF2-40B4-BE49-F238E27FC236}">
                <a16:creationId xmlns:a16="http://schemas.microsoft.com/office/drawing/2014/main" id="{1B25EC69-4273-6E01-B781-F76B299F64DF}"/>
              </a:ext>
            </a:extLst>
          </p:cNvPr>
          <p:cNvSpPr txBox="1"/>
          <p:nvPr/>
        </p:nvSpPr>
        <p:spPr>
          <a:xfrm>
            <a:off x="830826" y="2283176"/>
            <a:ext cx="6789174" cy="1477328"/>
          </a:xfrm>
          <a:prstGeom prst="rect">
            <a:avLst/>
          </a:prstGeom>
          <a:noFill/>
        </p:spPr>
        <p:txBody>
          <a:bodyPr wrap="square" rtlCol="0">
            <a:spAutoFit/>
          </a:bodyPr>
          <a:lstStyle/>
          <a:p>
            <a:pPr algn="l">
              <a:buNone/>
            </a:pPr>
            <a:r>
              <a:rPr lang="en-US" b="1" i="0" u="sng" dirty="0">
                <a:effectLst/>
                <a:latin typeface="__Inter_d65c78"/>
              </a:rPr>
              <a:t>Outlet Identifier</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A unique identifier for each store in the dataset.</a:t>
            </a:r>
          </a:p>
          <a:p>
            <a:pPr algn="l">
              <a:buFont typeface="Arial" panose="020B0604020202020204" pitchFamily="34" charset="0"/>
              <a:buChar char="•"/>
            </a:pPr>
            <a:r>
              <a:rPr lang="en-US" b="1" i="0" dirty="0">
                <a:effectLst/>
                <a:latin typeface="__Inter_d65c78"/>
              </a:rPr>
              <a:t>Example:</a:t>
            </a:r>
            <a:r>
              <a:rPr lang="en-US" b="0" i="0" dirty="0">
                <a:effectLst/>
                <a:latin typeface="__Inter_d65c78"/>
              </a:rPr>
              <a:t> OUT049, OUT018</a:t>
            </a:r>
          </a:p>
          <a:p>
            <a:pPr marL="742950" lvl="1" indent="-285750" algn="l">
              <a:buFont typeface="Arial" panose="020B0604020202020204" pitchFamily="34" charset="0"/>
              <a:buChar char="•"/>
            </a:pPr>
            <a:r>
              <a:rPr lang="en-US" b="0" i="0" dirty="0">
                <a:effectLst/>
                <a:latin typeface="__Inter_d65c78"/>
              </a:rPr>
              <a:t>Essential for tracking sales performance by store</a:t>
            </a:r>
            <a:r>
              <a:rPr lang="en-US" b="0" i="0" dirty="0">
                <a:solidFill>
                  <a:srgbClr val="374151"/>
                </a:solidFill>
                <a:effectLst/>
                <a:latin typeface="__Inter_d65c78"/>
              </a:rPr>
              <a:t>.</a:t>
            </a:r>
          </a:p>
        </p:txBody>
      </p:sp>
      <p:sp>
        <p:nvSpPr>
          <p:cNvPr id="6" name="TextBox 5">
            <a:extLst>
              <a:ext uri="{FF2B5EF4-FFF2-40B4-BE49-F238E27FC236}">
                <a16:creationId xmlns:a16="http://schemas.microsoft.com/office/drawing/2014/main" id="{DE98D0D0-A5E8-38E3-FC30-3DBBE892B6C4}"/>
              </a:ext>
            </a:extLst>
          </p:cNvPr>
          <p:cNvSpPr txBox="1"/>
          <p:nvPr/>
        </p:nvSpPr>
        <p:spPr>
          <a:xfrm>
            <a:off x="1081549" y="3844016"/>
            <a:ext cx="6912077" cy="1754326"/>
          </a:xfrm>
          <a:prstGeom prst="rect">
            <a:avLst/>
          </a:prstGeom>
          <a:noFill/>
        </p:spPr>
        <p:txBody>
          <a:bodyPr wrap="square" rtlCol="0">
            <a:spAutoFit/>
          </a:bodyPr>
          <a:lstStyle/>
          <a:p>
            <a:pPr algn="l">
              <a:buNone/>
            </a:pPr>
            <a:r>
              <a:rPr lang="en-US" b="1" i="0" u="sng" dirty="0">
                <a:effectLst/>
                <a:latin typeface="__Inter_d65c78"/>
              </a:rPr>
              <a:t>Outlet Location</a:t>
            </a:r>
            <a:r>
              <a:rPr lang="en-US" b="1" u="sng" dirty="0">
                <a:latin typeface="__Inter_d65c78"/>
              </a:rPr>
              <a:t> </a:t>
            </a:r>
            <a:r>
              <a:rPr lang="en-US" b="1" i="0" u="sng" dirty="0">
                <a:effectLst/>
                <a:latin typeface="__Inter_d65c78"/>
              </a:rPr>
              <a:t>Type</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type of city or region in which the store is located.</a:t>
            </a:r>
          </a:p>
          <a:p>
            <a:pPr algn="l">
              <a:buFont typeface="Arial" panose="020B0604020202020204" pitchFamily="34" charset="0"/>
              <a:buChar char="•"/>
            </a:pPr>
            <a:r>
              <a:rPr lang="en-US" b="1" i="0" dirty="0">
                <a:effectLst/>
                <a:latin typeface="__Inter_d65c78"/>
              </a:rPr>
              <a:t>Categories:</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Tier 1, Tier 2, Tier 3</a:t>
            </a:r>
          </a:p>
          <a:p>
            <a:pPr marL="742950" lvl="1" indent="-285750" algn="l">
              <a:buFont typeface="Arial" panose="020B0604020202020204" pitchFamily="34" charset="0"/>
              <a:buChar char="•"/>
            </a:pPr>
            <a:r>
              <a:rPr lang="en-US" b="0" i="0" dirty="0">
                <a:effectLst/>
                <a:latin typeface="__Inter_d65c78"/>
              </a:rPr>
              <a:t>Helps in understanding market dynamics based on location</a:t>
            </a:r>
            <a:r>
              <a:rPr lang="en-US" b="0" i="0" dirty="0">
                <a:solidFill>
                  <a:srgbClr val="374151"/>
                </a:solidFill>
                <a:effectLst/>
                <a:latin typeface="__Inter_d65c78"/>
              </a:rPr>
              <a:t>.</a:t>
            </a:r>
          </a:p>
        </p:txBody>
      </p:sp>
    </p:spTree>
    <p:extLst>
      <p:ext uri="{BB962C8B-B14F-4D97-AF65-F5344CB8AC3E}">
        <p14:creationId xmlns:p14="http://schemas.microsoft.com/office/powerpoint/2010/main" val="2555884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3E1F-2EA9-8BB7-A630-1191AE11E5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5AA1DD-151C-4C7C-F878-3D53CCF57810}"/>
              </a:ext>
            </a:extLst>
          </p:cNvPr>
          <p:cNvSpPr txBox="1"/>
          <p:nvPr/>
        </p:nvSpPr>
        <p:spPr>
          <a:xfrm>
            <a:off x="1484671" y="540774"/>
            <a:ext cx="4729316" cy="584775"/>
          </a:xfrm>
          <a:prstGeom prst="rect">
            <a:avLst/>
          </a:prstGeom>
          <a:noFill/>
        </p:spPr>
        <p:txBody>
          <a:bodyPr wrap="square" rtlCol="0">
            <a:spAutoFit/>
          </a:bodyPr>
          <a:lstStyle/>
          <a:p>
            <a:r>
              <a:rPr lang="en-IN" sz="3200" b="1" i="1" u="sng" dirty="0">
                <a:effectLst>
                  <a:outerShdw blurRad="38100" dist="38100" dir="2700000" algn="tl">
                    <a:srgbClr val="000000">
                      <a:alpha val="43137"/>
                    </a:srgbClr>
                  </a:outerShdw>
                </a:effectLst>
                <a:latin typeface="__Inter_d65c78"/>
              </a:rPr>
              <a:t>Column Descriptions:</a:t>
            </a:r>
          </a:p>
        </p:txBody>
      </p:sp>
      <p:sp>
        <p:nvSpPr>
          <p:cNvPr id="3" name="TextBox 2">
            <a:extLst>
              <a:ext uri="{FF2B5EF4-FFF2-40B4-BE49-F238E27FC236}">
                <a16:creationId xmlns:a16="http://schemas.microsoft.com/office/drawing/2014/main" id="{B5F255BD-FA1C-39DF-23FB-DC9AA71F6BE6}"/>
              </a:ext>
            </a:extLst>
          </p:cNvPr>
          <p:cNvSpPr txBox="1"/>
          <p:nvPr/>
        </p:nvSpPr>
        <p:spPr>
          <a:xfrm>
            <a:off x="2497394" y="1563329"/>
            <a:ext cx="5968180" cy="923330"/>
          </a:xfrm>
          <a:prstGeom prst="rect">
            <a:avLst/>
          </a:prstGeom>
          <a:noFill/>
        </p:spPr>
        <p:txBody>
          <a:bodyPr wrap="square" rtlCol="0">
            <a:spAutoFit/>
          </a:bodyPr>
          <a:lstStyle/>
          <a:p>
            <a:pPr algn="l"/>
            <a:endParaRPr lang="en-US" b="0" i="0" dirty="0">
              <a:effectLst/>
              <a:latin typeface="__Inter_d65c78"/>
            </a:endParaRPr>
          </a:p>
          <a:p>
            <a:pPr>
              <a:buNone/>
            </a:pPr>
            <a:br>
              <a:rPr lang="en-IN" dirty="0"/>
            </a:br>
            <a:endParaRPr lang="en-IN" dirty="0"/>
          </a:p>
        </p:txBody>
      </p:sp>
      <p:sp>
        <p:nvSpPr>
          <p:cNvPr id="4" name="TextBox 3">
            <a:extLst>
              <a:ext uri="{FF2B5EF4-FFF2-40B4-BE49-F238E27FC236}">
                <a16:creationId xmlns:a16="http://schemas.microsoft.com/office/drawing/2014/main" id="{0D9B32D3-E880-DFC0-00A4-4DEA7AA11113}"/>
              </a:ext>
            </a:extLst>
          </p:cNvPr>
          <p:cNvSpPr txBox="1"/>
          <p:nvPr/>
        </p:nvSpPr>
        <p:spPr>
          <a:xfrm>
            <a:off x="1160207" y="1406013"/>
            <a:ext cx="10368116" cy="1508105"/>
          </a:xfrm>
          <a:prstGeom prst="rect">
            <a:avLst/>
          </a:prstGeom>
          <a:noFill/>
        </p:spPr>
        <p:txBody>
          <a:bodyPr wrap="square" rtlCol="0">
            <a:spAutoFit/>
          </a:bodyPr>
          <a:lstStyle/>
          <a:p>
            <a:pPr algn="l">
              <a:buNone/>
            </a:pPr>
            <a:r>
              <a:rPr lang="en-US" sz="2000" b="1" i="1" u="sng" dirty="0">
                <a:solidFill>
                  <a:srgbClr val="111827"/>
                </a:solidFill>
                <a:effectLst>
                  <a:outerShdw blurRad="38100" dist="38100" dir="2700000" algn="tl">
                    <a:srgbClr val="000000">
                      <a:alpha val="43137"/>
                    </a:srgbClr>
                  </a:outerShdw>
                </a:effectLst>
                <a:latin typeface="__Inter_d65c78"/>
              </a:rPr>
              <a:t> </a:t>
            </a:r>
            <a:r>
              <a:rPr lang="en-US" sz="2000" b="1" i="1" u="sng" dirty="0">
                <a:effectLst>
                  <a:outerShdw blurRad="38100" dist="38100" dir="2700000" algn="tl">
                    <a:srgbClr val="000000">
                      <a:alpha val="43137"/>
                    </a:srgbClr>
                  </a:outerShdw>
                </a:effectLst>
                <a:latin typeface="__Inter_d65c78"/>
              </a:rPr>
              <a:t>Outlet Size:</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size of the store in terms of ground area covered.</a:t>
            </a:r>
          </a:p>
          <a:p>
            <a:pPr algn="l">
              <a:buFont typeface="Arial" panose="020B0604020202020204" pitchFamily="34" charset="0"/>
              <a:buChar char="•"/>
            </a:pPr>
            <a:r>
              <a:rPr lang="en-US" b="1" i="0" dirty="0">
                <a:effectLst/>
                <a:latin typeface="__Inter_d65c78"/>
              </a:rPr>
              <a:t>Categories:</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Small, Medium, High</a:t>
            </a:r>
          </a:p>
        </p:txBody>
      </p:sp>
      <p:sp>
        <p:nvSpPr>
          <p:cNvPr id="6" name="TextBox 5">
            <a:extLst>
              <a:ext uri="{FF2B5EF4-FFF2-40B4-BE49-F238E27FC236}">
                <a16:creationId xmlns:a16="http://schemas.microsoft.com/office/drawing/2014/main" id="{9BAC31E6-C1F4-3F5E-8208-564C8091909B}"/>
              </a:ext>
            </a:extLst>
          </p:cNvPr>
          <p:cNvSpPr txBox="1"/>
          <p:nvPr/>
        </p:nvSpPr>
        <p:spPr>
          <a:xfrm>
            <a:off x="1091380" y="2909365"/>
            <a:ext cx="7138219" cy="2062103"/>
          </a:xfrm>
          <a:prstGeom prst="rect">
            <a:avLst/>
          </a:prstGeom>
          <a:noFill/>
        </p:spPr>
        <p:txBody>
          <a:bodyPr wrap="square" rtlCol="0">
            <a:spAutoFit/>
          </a:bodyPr>
          <a:lstStyle/>
          <a:p>
            <a:pPr algn="l">
              <a:buNone/>
            </a:pPr>
            <a:r>
              <a:rPr lang="en-US" b="1" i="0" dirty="0">
                <a:solidFill>
                  <a:srgbClr val="111827"/>
                </a:solidFill>
                <a:effectLst/>
                <a:latin typeface="__Inter_d65c78"/>
              </a:rPr>
              <a:t> </a:t>
            </a:r>
            <a:r>
              <a:rPr lang="en-US" sz="2000" b="1" i="1" u="sng" dirty="0">
                <a:effectLst>
                  <a:outerShdw blurRad="38100" dist="38100" dir="2700000" algn="tl">
                    <a:srgbClr val="000000">
                      <a:alpha val="43137"/>
                    </a:srgbClr>
                  </a:outerShdw>
                </a:effectLst>
                <a:latin typeface="__Inter_d65c78"/>
              </a:rPr>
              <a:t>Outlet Type:</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Indicates whether the store is a grocery store or a supermarket.</a:t>
            </a:r>
          </a:p>
          <a:p>
            <a:pPr algn="l">
              <a:buFont typeface="Arial" panose="020B0604020202020204" pitchFamily="34" charset="0"/>
              <a:buChar char="•"/>
            </a:pPr>
            <a:r>
              <a:rPr lang="en-US" b="1" i="0" dirty="0">
                <a:effectLst/>
                <a:latin typeface="__Inter_d65c78"/>
              </a:rPr>
              <a:t>Categories:</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Supermarket Type1, Supermarket Type2, Supermarket Type3, Grocery Store</a:t>
            </a:r>
          </a:p>
          <a:p>
            <a:pPr algn="l">
              <a:buNone/>
            </a:pPr>
            <a:endParaRPr lang="en-US" b="1" i="0" u="sng" dirty="0">
              <a:effectLst/>
              <a:latin typeface="__Inter_d65c78"/>
            </a:endParaRPr>
          </a:p>
        </p:txBody>
      </p:sp>
      <p:sp>
        <p:nvSpPr>
          <p:cNvPr id="7" name="TextBox 6">
            <a:extLst>
              <a:ext uri="{FF2B5EF4-FFF2-40B4-BE49-F238E27FC236}">
                <a16:creationId xmlns:a16="http://schemas.microsoft.com/office/drawing/2014/main" id="{6974FABB-EF80-BC81-814F-D728281CE08B}"/>
              </a:ext>
            </a:extLst>
          </p:cNvPr>
          <p:cNvSpPr txBox="1"/>
          <p:nvPr/>
        </p:nvSpPr>
        <p:spPr>
          <a:xfrm>
            <a:off x="1032387" y="4697934"/>
            <a:ext cx="7207046" cy="1508105"/>
          </a:xfrm>
          <a:prstGeom prst="rect">
            <a:avLst/>
          </a:prstGeom>
          <a:noFill/>
        </p:spPr>
        <p:txBody>
          <a:bodyPr wrap="square" rtlCol="0">
            <a:spAutoFit/>
          </a:bodyPr>
          <a:lstStyle/>
          <a:p>
            <a:pPr algn="l">
              <a:buNone/>
            </a:pPr>
            <a:r>
              <a:rPr lang="en-US" sz="2000" b="1" i="1" u="sng" dirty="0">
                <a:effectLst/>
                <a:latin typeface="__Inter_d65c78"/>
              </a:rPr>
              <a:t>Item Visibility:</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percentage of the total display area in the store allocated to the specific product.</a:t>
            </a:r>
          </a:p>
          <a:p>
            <a:endParaRPr lang="en-IN" dirty="0"/>
          </a:p>
        </p:txBody>
      </p:sp>
    </p:spTree>
    <p:extLst>
      <p:ext uri="{BB962C8B-B14F-4D97-AF65-F5344CB8AC3E}">
        <p14:creationId xmlns:p14="http://schemas.microsoft.com/office/powerpoint/2010/main" val="3539010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B8D8-8653-2361-EA6B-FA45E7D177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A9D14A-EB41-2DF1-716F-5784AA8EFEC5}"/>
              </a:ext>
            </a:extLst>
          </p:cNvPr>
          <p:cNvSpPr txBox="1"/>
          <p:nvPr/>
        </p:nvSpPr>
        <p:spPr>
          <a:xfrm>
            <a:off x="1484671" y="540774"/>
            <a:ext cx="4729316" cy="584775"/>
          </a:xfrm>
          <a:prstGeom prst="rect">
            <a:avLst/>
          </a:prstGeom>
          <a:noFill/>
        </p:spPr>
        <p:txBody>
          <a:bodyPr wrap="square" rtlCol="0">
            <a:spAutoFit/>
          </a:bodyPr>
          <a:lstStyle/>
          <a:p>
            <a:r>
              <a:rPr lang="en-IN" sz="3200" b="1" i="1" u="sng" dirty="0">
                <a:effectLst>
                  <a:outerShdw blurRad="38100" dist="38100" dir="2700000" algn="tl">
                    <a:srgbClr val="000000">
                      <a:alpha val="43137"/>
                    </a:srgbClr>
                  </a:outerShdw>
                </a:effectLst>
                <a:latin typeface="__Inter_d65c78"/>
              </a:rPr>
              <a:t>Column Descriptions:</a:t>
            </a:r>
          </a:p>
        </p:txBody>
      </p:sp>
      <p:sp>
        <p:nvSpPr>
          <p:cNvPr id="3" name="TextBox 2">
            <a:extLst>
              <a:ext uri="{FF2B5EF4-FFF2-40B4-BE49-F238E27FC236}">
                <a16:creationId xmlns:a16="http://schemas.microsoft.com/office/drawing/2014/main" id="{2FCEF0F5-C73E-8B51-3EAB-15424DFC69FA}"/>
              </a:ext>
            </a:extLst>
          </p:cNvPr>
          <p:cNvSpPr txBox="1"/>
          <p:nvPr/>
        </p:nvSpPr>
        <p:spPr>
          <a:xfrm>
            <a:off x="2497394" y="1563329"/>
            <a:ext cx="5968180" cy="923330"/>
          </a:xfrm>
          <a:prstGeom prst="rect">
            <a:avLst/>
          </a:prstGeom>
          <a:noFill/>
        </p:spPr>
        <p:txBody>
          <a:bodyPr wrap="square" rtlCol="0">
            <a:spAutoFit/>
          </a:bodyPr>
          <a:lstStyle/>
          <a:p>
            <a:pPr algn="l"/>
            <a:endParaRPr lang="en-US" b="0" i="0" dirty="0">
              <a:effectLst/>
              <a:latin typeface="__Inter_d65c78"/>
            </a:endParaRPr>
          </a:p>
          <a:p>
            <a:pPr>
              <a:buNone/>
            </a:pPr>
            <a:br>
              <a:rPr lang="en-IN" dirty="0"/>
            </a:br>
            <a:endParaRPr lang="en-IN" dirty="0"/>
          </a:p>
        </p:txBody>
      </p:sp>
      <p:sp>
        <p:nvSpPr>
          <p:cNvPr id="4" name="TextBox 3">
            <a:extLst>
              <a:ext uri="{FF2B5EF4-FFF2-40B4-BE49-F238E27FC236}">
                <a16:creationId xmlns:a16="http://schemas.microsoft.com/office/drawing/2014/main" id="{3ACDB07E-B315-273A-0B0E-9385A29EEA9F}"/>
              </a:ext>
            </a:extLst>
          </p:cNvPr>
          <p:cNvSpPr txBox="1"/>
          <p:nvPr/>
        </p:nvSpPr>
        <p:spPr>
          <a:xfrm>
            <a:off x="1130710" y="1406013"/>
            <a:ext cx="10368116" cy="1231106"/>
          </a:xfrm>
          <a:prstGeom prst="rect">
            <a:avLst/>
          </a:prstGeom>
          <a:noFill/>
        </p:spPr>
        <p:txBody>
          <a:bodyPr wrap="square" rtlCol="0">
            <a:spAutoFit/>
          </a:bodyPr>
          <a:lstStyle/>
          <a:p>
            <a:pPr algn="l">
              <a:buNone/>
            </a:pPr>
            <a:r>
              <a:rPr lang="en-US" sz="2000" b="1" i="1" u="sng" dirty="0">
                <a:solidFill>
                  <a:srgbClr val="111827"/>
                </a:solidFill>
                <a:effectLst>
                  <a:outerShdw blurRad="38100" dist="38100" dir="2700000" algn="tl">
                    <a:srgbClr val="000000">
                      <a:alpha val="43137"/>
                    </a:srgbClr>
                  </a:outerShdw>
                </a:effectLst>
                <a:latin typeface="__Inter_d65c78"/>
              </a:rPr>
              <a:t> </a:t>
            </a:r>
            <a:r>
              <a:rPr lang="en-US" sz="2000" b="1" i="1" u="sng" dirty="0">
                <a:effectLst/>
                <a:latin typeface="__Inter_d65c78"/>
              </a:rPr>
              <a:t>Item Weight:</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weight of the product</a:t>
            </a:r>
          </a:p>
          <a:p>
            <a:pPr algn="l">
              <a:buNone/>
            </a:pPr>
            <a:endParaRPr lang="en-US" b="0" i="0" dirty="0">
              <a:effectLst/>
              <a:latin typeface="__Inter_d65c78"/>
            </a:endParaRPr>
          </a:p>
        </p:txBody>
      </p:sp>
      <p:sp>
        <p:nvSpPr>
          <p:cNvPr id="6" name="TextBox 5">
            <a:extLst>
              <a:ext uri="{FF2B5EF4-FFF2-40B4-BE49-F238E27FC236}">
                <a16:creationId xmlns:a16="http://schemas.microsoft.com/office/drawing/2014/main" id="{75C412C0-82E0-15F2-EFFE-7E8F45B749B7}"/>
              </a:ext>
            </a:extLst>
          </p:cNvPr>
          <p:cNvSpPr txBox="1"/>
          <p:nvPr/>
        </p:nvSpPr>
        <p:spPr>
          <a:xfrm>
            <a:off x="963563" y="2302030"/>
            <a:ext cx="7138219" cy="1231106"/>
          </a:xfrm>
          <a:prstGeom prst="rect">
            <a:avLst/>
          </a:prstGeom>
          <a:noFill/>
        </p:spPr>
        <p:txBody>
          <a:bodyPr wrap="square" rtlCol="0">
            <a:spAutoFit/>
          </a:bodyPr>
          <a:lstStyle/>
          <a:p>
            <a:pPr algn="l">
              <a:buNone/>
            </a:pPr>
            <a:r>
              <a:rPr lang="en-US" sz="2000" b="1" i="1" u="sng" dirty="0">
                <a:effectLst>
                  <a:outerShdw blurRad="38100" dist="38100" dir="2700000" algn="tl">
                    <a:srgbClr val="000000">
                      <a:alpha val="43137"/>
                    </a:srgbClr>
                  </a:outerShdw>
                </a:effectLst>
                <a:latin typeface="__Inter_d65c78"/>
              </a:rPr>
              <a:t>  Sales:</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The sales of the product in the particular store (outcome variable).</a:t>
            </a:r>
          </a:p>
          <a:p>
            <a:pPr algn="l">
              <a:buNone/>
            </a:pPr>
            <a:endParaRPr lang="en-US" b="1" i="0" u="sng" dirty="0">
              <a:effectLst/>
              <a:latin typeface="__Inter_d65c78"/>
            </a:endParaRPr>
          </a:p>
        </p:txBody>
      </p:sp>
      <p:sp>
        <p:nvSpPr>
          <p:cNvPr id="7" name="TextBox 6">
            <a:extLst>
              <a:ext uri="{FF2B5EF4-FFF2-40B4-BE49-F238E27FC236}">
                <a16:creationId xmlns:a16="http://schemas.microsoft.com/office/drawing/2014/main" id="{FDC78509-188F-1AAE-3BE5-84B5DF40B8A6}"/>
              </a:ext>
            </a:extLst>
          </p:cNvPr>
          <p:cNvSpPr txBox="1"/>
          <p:nvPr/>
        </p:nvSpPr>
        <p:spPr>
          <a:xfrm>
            <a:off x="929149" y="3429000"/>
            <a:ext cx="7207046" cy="1231106"/>
          </a:xfrm>
          <a:prstGeom prst="rect">
            <a:avLst/>
          </a:prstGeom>
          <a:noFill/>
        </p:spPr>
        <p:txBody>
          <a:bodyPr wrap="square" rtlCol="0">
            <a:spAutoFit/>
          </a:bodyPr>
          <a:lstStyle/>
          <a:p>
            <a:pPr algn="l">
              <a:buNone/>
            </a:pPr>
            <a:r>
              <a:rPr lang="en-US" b="1" i="0" dirty="0">
                <a:solidFill>
                  <a:srgbClr val="111827"/>
                </a:solidFill>
                <a:effectLst/>
                <a:latin typeface="__Inter_d65c78"/>
              </a:rPr>
              <a:t> </a:t>
            </a:r>
            <a:r>
              <a:rPr lang="en-US" sz="2000" b="1" i="1" u="sng" dirty="0">
                <a:effectLst>
                  <a:outerShdw blurRad="38100" dist="38100" dir="2700000" algn="tl">
                    <a:srgbClr val="000000">
                      <a:alpha val="43137"/>
                    </a:srgbClr>
                  </a:outerShdw>
                </a:effectLst>
                <a:latin typeface="__Inter_d65c78"/>
              </a:rPr>
              <a:t>Rating:</a:t>
            </a:r>
          </a:p>
          <a:p>
            <a:pPr algn="l">
              <a:buFont typeface="Arial" panose="020B0604020202020204" pitchFamily="34" charset="0"/>
              <a:buChar char="•"/>
            </a:pPr>
            <a:r>
              <a:rPr lang="en-US" b="1" i="0" dirty="0">
                <a:effectLst/>
                <a:latin typeface="__Inter_d65c78"/>
              </a:rPr>
              <a:t>Description:</a:t>
            </a:r>
            <a:endParaRPr lang="en-US" b="0" i="0" dirty="0">
              <a:effectLst/>
              <a:latin typeface="__Inter_d65c78"/>
            </a:endParaRPr>
          </a:p>
          <a:p>
            <a:pPr marL="742950" lvl="1" indent="-285750" algn="l">
              <a:buFont typeface="Arial" panose="020B0604020202020204" pitchFamily="34" charset="0"/>
              <a:buChar char="•"/>
            </a:pPr>
            <a:r>
              <a:rPr lang="en-US" b="0" i="0" dirty="0">
                <a:effectLst/>
                <a:latin typeface="__Inter_d65c78"/>
              </a:rPr>
              <a:t>Customer rating of the product </a:t>
            </a:r>
          </a:p>
          <a:p>
            <a:endParaRPr lang="en-IN" dirty="0"/>
          </a:p>
        </p:txBody>
      </p:sp>
      <p:sp>
        <p:nvSpPr>
          <p:cNvPr id="8" name="TextBox 7">
            <a:extLst>
              <a:ext uri="{FF2B5EF4-FFF2-40B4-BE49-F238E27FC236}">
                <a16:creationId xmlns:a16="http://schemas.microsoft.com/office/drawing/2014/main" id="{65C1D093-2466-2DB3-F871-F53C1E9BBE80}"/>
              </a:ext>
            </a:extLst>
          </p:cNvPr>
          <p:cNvSpPr txBox="1"/>
          <p:nvPr/>
        </p:nvSpPr>
        <p:spPr>
          <a:xfrm>
            <a:off x="1356852" y="4807974"/>
            <a:ext cx="7207046" cy="984885"/>
          </a:xfrm>
          <a:prstGeom prst="rect">
            <a:avLst/>
          </a:prstGeom>
          <a:noFill/>
        </p:spPr>
        <p:txBody>
          <a:bodyPr wrap="square" rtlCol="0">
            <a:spAutoFit/>
          </a:bodyPr>
          <a:lstStyle/>
          <a:p>
            <a:pPr marL="342900" indent="-342900">
              <a:buFont typeface="Arial" panose="020B0604020202020204" pitchFamily="34" charset="0"/>
              <a:buChar char="•"/>
            </a:pPr>
            <a:r>
              <a:rPr lang="en-US" sz="2000" b="0" i="0" dirty="0">
                <a:effectLst/>
                <a:latin typeface="__Inter_d65c78"/>
              </a:rPr>
              <a:t>8,523 rows and 12 columns of supermarket sales data</a:t>
            </a:r>
            <a:r>
              <a:rPr lang="en-US" sz="2000" i="0" dirty="0">
                <a:effectLst/>
                <a:latin typeface="__Inter_d65c78"/>
              </a:rPr>
              <a:t>  </a:t>
            </a:r>
          </a:p>
          <a:p>
            <a:pPr marL="342900" indent="-342900">
              <a:buFont typeface="Arial" panose="020B0604020202020204" pitchFamily="34" charset="0"/>
              <a:buChar char="•"/>
            </a:pPr>
            <a:r>
              <a:rPr lang="en-US" sz="2000" i="0" dirty="0">
                <a:effectLst/>
                <a:latin typeface="__Inter_d65c78"/>
              </a:rPr>
              <a:t> Sales is the primary focus as an output variable .</a:t>
            </a:r>
            <a:endParaRPr lang="en-IN" sz="2000" i="0" dirty="0">
              <a:effectLst/>
              <a:latin typeface="__Inter_d65c78"/>
            </a:endParaRPr>
          </a:p>
          <a:p>
            <a:endParaRPr lang="en-IN" dirty="0"/>
          </a:p>
        </p:txBody>
      </p:sp>
    </p:spTree>
    <p:extLst>
      <p:ext uri="{BB962C8B-B14F-4D97-AF65-F5344CB8AC3E}">
        <p14:creationId xmlns:p14="http://schemas.microsoft.com/office/powerpoint/2010/main" val="208045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8E2D7C56-7B75-E761-4F59-68C3E96E0F50}"/>
              </a:ext>
            </a:extLst>
          </p:cNvPr>
          <p:cNvSpPr txBox="1"/>
          <p:nvPr/>
        </p:nvSpPr>
        <p:spPr>
          <a:xfrm>
            <a:off x="4024312" y="119060"/>
            <a:ext cx="4143376"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600" b="1" u="sng" dirty="0">
                <a:solidFill>
                  <a:schemeClr val="tx1"/>
                </a:solidFill>
                <a:latin typeface="Segoe UI Black" panose="020B0A02040204020203" pitchFamily="34" charset="0"/>
                <a:ea typeface="Segoe UI Black" panose="020B0A02040204020203" pitchFamily="34" charset="0"/>
              </a:rPr>
              <a:t>Blink </a:t>
            </a:r>
            <a:r>
              <a:rPr lang="en-IN" sz="3600" b="1" u="sng" dirty="0">
                <a:solidFill>
                  <a:srgbClr val="00B050"/>
                </a:solidFill>
                <a:latin typeface="Segoe UI Black" panose="020B0A02040204020203" pitchFamily="34" charset="0"/>
                <a:ea typeface="Segoe UI Black" panose="020B0A02040204020203" pitchFamily="34" charset="0"/>
              </a:rPr>
              <a:t>it</a:t>
            </a:r>
            <a:r>
              <a:rPr lang="en-IN" sz="3600" b="1" u="sng" dirty="0">
                <a:solidFill>
                  <a:schemeClr val="tx1"/>
                </a:solidFill>
                <a:latin typeface="Segoe UI Black" panose="020B0A02040204020203" pitchFamily="34" charset="0"/>
                <a:ea typeface="Segoe UI Black" panose="020B0A02040204020203" pitchFamily="34" charset="0"/>
              </a:rPr>
              <a:t> </a:t>
            </a:r>
            <a:r>
              <a:rPr lang="en-IN" sz="4000" b="1" u="sng" dirty="0">
                <a:solidFill>
                  <a:schemeClr val="tx1"/>
                </a:solidFill>
                <a:latin typeface="Segoe UI Black" panose="020B0A02040204020203" pitchFamily="34" charset="0"/>
                <a:ea typeface="Segoe UI Black" panose="020B0A02040204020203" pitchFamily="34" charset="0"/>
              </a:rPr>
              <a:t>Analysis</a:t>
            </a:r>
          </a:p>
        </p:txBody>
      </p:sp>
      <p:sp>
        <p:nvSpPr>
          <p:cNvPr id="2" name="TextBox 2">
            <a:extLst>
              <a:ext uri="{FF2B5EF4-FFF2-40B4-BE49-F238E27FC236}">
                <a16:creationId xmlns:a16="http://schemas.microsoft.com/office/drawing/2014/main" id="{D1B96785-4B8B-FA5B-C78A-A11268074C33}"/>
              </a:ext>
            </a:extLst>
          </p:cNvPr>
          <p:cNvSpPr txBox="1"/>
          <p:nvPr/>
        </p:nvSpPr>
        <p:spPr>
          <a:xfrm>
            <a:off x="104773" y="808075"/>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tx1"/>
                </a:solidFill>
                <a:latin typeface="Arial Rounded MT Bold" panose="020F0704030504030204" pitchFamily="34" charset="0"/>
                <a:ea typeface="Segoe UI Black" panose="020B0A02040204020203" pitchFamily="34" charset="0"/>
              </a:rPr>
              <a:t>BUSINESS REQUIREMENT</a:t>
            </a:r>
          </a:p>
        </p:txBody>
      </p:sp>
      <p:sp>
        <p:nvSpPr>
          <p:cNvPr id="3" name="TextBox 2">
            <a:extLst>
              <a:ext uri="{FF2B5EF4-FFF2-40B4-BE49-F238E27FC236}">
                <a16:creationId xmlns:a16="http://schemas.microsoft.com/office/drawing/2014/main" id="{410B16D1-28F8-BE3B-D4FC-F1FA056DCCC7}"/>
              </a:ext>
            </a:extLst>
          </p:cNvPr>
          <p:cNvSpPr txBox="1"/>
          <p:nvPr/>
        </p:nvSpPr>
        <p:spPr>
          <a:xfrm>
            <a:off x="104773" y="1770281"/>
            <a:ext cx="11706226" cy="923330"/>
          </a:xfrm>
          <a:prstGeom prst="rect">
            <a:avLst/>
          </a:prstGeom>
          <a:noFill/>
        </p:spPr>
        <p:txBody>
          <a:bodyPr wrap="square" rtlCol="0">
            <a:spAutoFit/>
          </a:bodyPr>
          <a:lstStyle/>
          <a:p>
            <a:r>
              <a:rPr lang="en-US" b="1" dirty="0"/>
              <a:t>To conduct a comprehensive analysis of Blinkit's sales performance, customer satisfaction, and inventory distribution to identify key insights and opportunities for optimization using various KPIs and visualizations in Power BI, Excel, Tableau.</a:t>
            </a:r>
            <a:endParaRPr lang="en-IN" b="1" dirty="0"/>
          </a:p>
        </p:txBody>
      </p:sp>
      <p:sp>
        <p:nvSpPr>
          <p:cNvPr id="6" name="TextBox 2">
            <a:extLst>
              <a:ext uri="{FF2B5EF4-FFF2-40B4-BE49-F238E27FC236}">
                <a16:creationId xmlns:a16="http://schemas.microsoft.com/office/drawing/2014/main" id="{AD068555-1BC7-C50B-CCCE-16510F32C912}"/>
              </a:ext>
            </a:extLst>
          </p:cNvPr>
          <p:cNvSpPr txBox="1"/>
          <p:nvPr/>
        </p:nvSpPr>
        <p:spPr>
          <a:xfrm>
            <a:off x="371473" y="2829403"/>
            <a:ext cx="5724527" cy="463804"/>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400" b="1" dirty="0">
                <a:solidFill>
                  <a:schemeClr val="tx1"/>
                </a:solidFill>
                <a:highlight>
                  <a:srgbClr val="000000"/>
                </a:highlight>
                <a:latin typeface="Arial Rounded MT Bold" panose="020F0704030504030204" pitchFamily="34" charset="0"/>
                <a:ea typeface="Segoe UI Black" panose="020B0A02040204020203" pitchFamily="34" charset="0"/>
              </a:rPr>
              <a:t>KPI’s</a:t>
            </a:r>
            <a:r>
              <a:rPr lang="en-IN" sz="2400" b="1" dirty="0">
                <a:solidFill>
                  <a:schemeClr val="bg1"/>
                </a:solidFill>
                <a:highlight>
                  <a:srgbClr val="000000"/>
                </a:highlight>
                <a:latin typeface="Arial Rounded MT Bold" panose="020F0704030504030204" pitchFamily="34" charset="0"/>
                <a:ea typeface="Segoe UI Black" panose="020B0A02040204020203" pitchFamily="34" charset="0"/>
              </a:rPr>
              <a:t> </a:t>
            </a:r>
            <a:r>
              <a:rPr lang="en-IN" sz="2400" b="1" dirty="0">
                <a:solidFill>
                  <a:schemeClr val="tx1"/>
                </a:solidFill>
                <a:highlight>
                  <a:srgbClr val="000000"/>
                </a:highlight>
                <a:latin typeface="Arial Rounded MT Bold" panose="020F0704030504030204" pitchFamily="34" charset="0"/>
                <a:ea typeface="Segoe UI Black" panose="020B0A02040204020203" pitchFamily="34" charset="0"/>
              </a:rPr>
              <a:t>Requirements</a:t>
            </a:r>
          </a:p>
        </p:txBody>
      </p:sp>
      <p:sp>
        <p:nvSpPr>
          <p:cNvPr id="10" name="Rectangle 2">
            <a:extLst>
              <a:ext uri="{FF2B5EF4-FFF2-40B4-BE49-F238E27FC236}">
                <a16:creationId xmlns:a16="http://schemas.microsoft.com/office/drawing/2014/main" id="{76C98889-0FB0-7BAE-666E-6339C6BFBC6C}"/>
              </a:ext>
            </a:extLst>
          </p:cNvPr>
          <p:cNvSpPr>
            <a:spLocks noChangeArrowheads="1"/>
          </p:cNvSpPr>
          <p:nvPr/>
        </p:nvSpPr>
        <p:spPr bwMode="auto">
          <a:xfrm>
            <a:off x="360411" y="3429000"/>
            <a:ext cx="7896227" cy="3195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Total Sales</a:t>
            </a:r>
            <a:r>
              <a:rPr kumimoji="0" lang="en-US" altLang="en-US" b="0" i="0" u="none" strike="noStrike" cap="none" normalizeH="0" baseline="0" dirty="0">
                <a:ln>
                  <a:noFill/>
                </a:ln>
                <a:solidFill>
                  <a:schemeClr val="tx1"/>
                </a:solidFill>
                <a:effectLst/>
                <a:latin typeface="Arial" panose="020B0604020202020204" pitchFamily="34" charset="0"/>
              </a:rPr>
              <a:t>: The overall revenue per sale.</a:t>
            </a:r>
          </a:p>
          <a:p>
            <a:pPr marL="342900" lvl="0" indent="-342900" defTabSz="914400" eaLnBrk="0" fontAlgn="base" hangingPunct="0">
              <a:lnSpc>
                <a:spcPct val="150000"/>
              </a:lnSpc>
              <a:spcBef>
                <a:spcPct val="0"/>
              </a:spcBef>
              <a:spcAft>
                <a:spcPct val="0"/>
              </a:spcAft>
              <a:buFont typeface="+mj-lt"/>
              <a:buAutoNum type="arabicPeriod"/>
            </a:pPr>
            <a:r>
              <a:rPr kumimoji="0" lang="en-US" altLang="en-US" b="1" i="0" u="none" strike="noStrike" cap="none" normalizeH="0" baseline="0" dirty="0">
                <a:ln>
                  <a:noFill/>
                </a:ln>
                <a:solidFill>
                  <a:schemeClr val="tx1"/>
                </a:solidFill>
                <a:effectLst/>
                <a:latin typeface="Arial" panose="020B0604020202020204" pitchFamily="34" charset="0"/>
              </a:rPr>
              <a:t>Number of Items</a:t>
            </a:r>
            <a:r>
              <a:rPr kumimoji="0" lang="en-US" altLang="en-US" b="0" i="0" u="none" strike="noStrike" cap="none" normalizeH="0" baseline="0" dirty="0">
                <a:ln>
                  <a:noFill/>
                </a:ln>
                <a:solidFill>
                  <a:schemeClr val="tx1"/>
                </a:solidFill>
                <a:effectLst/>
                <a:latin typeface="Arial" panose="020B0604020202020204" pitchFamily="34" charset="0"/>
              </a:rPr>
              <a:t>: The total count of </a:t>
            </a:r>
            <a:r>
              <a:rPr lang="en-US" altLang="en-US" dirty="0">
                <a:latin typeface="Arial" panose="020B0604020202020204" pitchFamily="34" charset="0"/>
              </a:rPr>
              <a:t>generated from all items sold.</a:t>
            </a:r>
          </a:p>
          <a:p>
            <a:pPr marL="342900" lvl="0" indent="-342900" defTabSz="914400" eaLnBrk="0" fontAlgn="base" hangingPunct="0">
              <a:lnSpc>
                <a:spcPct val="150000"/>
              </a:lnSpc>
              <a:spcBef>
                <a:spcPct val="0"/>
              </a:spcBef>
              <a:spcAft>
                <a:spcPct val="0"/>
              </a:spcAft>
              <a:buFont typeface="+mj-lt"/>
              <a:buAutoNum type="arabicPeriod"/>
            </a:pPr>
            <a:r>
              <a:rPr lang="en-US" altLang="en-US" b="1" dirty="0">
                <a:latin typeface="Arial" panose="020B0604020202020204" pitchFamily="34" charset="0"/>
              </a:rPr>
              <a:t>Average Sales</a:t>
            </a:r>
            <a:r>
              <a:rPr lang="en-US" altLang="en-US" dirty="0">
                <a:latin typeface="Arial" panose="020B0604020202020204" pitchFamily="34" charset="0"/>
              </a:rPr>
              <a:t>: The average revenue </a:t>
            </a:r>
            <a:r>
              <a:rPr kumimoji="0" lang="en-US" altLang="en-US" b="0" i="0" u="none" strike="noStrike" cap="none" normalizeH="0" baseline="0" dirty="0">
                <a:ln>
                  <a:noFill/>
                </a:ln>
                <a:solidFill>
                  <a:schemeClr val="tx1"/>
                </a:solidFill>
                <a:effectLst/>
                <a:latin typeface="Arial" panose="020B0604020202020204" pitchFamily="34" charset="0"/>
              </a:rPr>
              <a:t> different items sold.</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Average Rating</a:t>
            </a:r>
            <a:r>
              <a:rPr kumimoji="0" lang="en-US" altLang="en-US" b="0" i="0" u="none" strike="noStrike" cap="none" normalizeH="0" baseline="0" dirty="0">
                <a:ln>
                  <a:noFill/>
                </a:ln>
                <a:solidFill>
                  <a:schemeClr val="tx1"/>
                </a:solidFill>
                <a:effectLst/>
                <a:latin typeface="Arial" panose="020B0604020202020204" pitchFamily="34" charset="0"/>
              </a:rPr>
              <a:t>: The average customer rating for items sold. </a:t>
            </a:r>
          </a:p>
          <a:p>
            <a:pPr marL="342900" indent="-342900" algn="l">
              <a:buFont typeface="+mj-lt"/>
              <a:buAutoNum type="arabicPeriod"/>
            </a:pPr>
            <a:r>
              <a:rPr lang="en-US" sz="2000" i="0" dirty="0">
                <a:effectLst/>
                <a:latin typeface="__Inter_d65c78"/>
              </a:rPr>
              <a:t>Top Performing Item Types: Fruits and Vegetables, Snack Foods</a:t>
            </a:r>
          </a:p>
          <a:p>
            <a:pPr marL="342900" indent="-342900" algn="l">
              <a:buFont typeface="+mj-lt"/>
              <a:buAutoNum type="arabicPeriod"/>
            </a:pPr>
            <a:r>
              <a:rPr lang="en-US" sz="2000" i="0" dirty="0">
                <a:effectLst/>
                <a:latin typeface="__Inter_d65c78"/>
              </a:rPr>
              <a:t>Sales by Outlet Location Type: Tier 1 outlets outperform Tier 3</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200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4288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9108-82EC-B41D-77C4-5C4DD9AF877B}"/>
              </a:ext>
            </a:extLst>
          </p:cNvPr>
          <p:cNvSpPr>
            <a:spLocks noGrp="1"/>
          </p:cNvSpPr>
          <p:nvPr>
            <p:ph type="title"/>
          </p:nvPr>
        </p:nvSpPr>
        <p:spPr>
          <a:xfrm>
            <a:off x="913795" y="0"/>
            <a:ext cx="10353762" cy="762307"/>
          </a:xfrm>
        </p:spPr>
        <p:txBody>
          <a:bodyPr/>
          <a:lstStyle/>
          <a:p>
            <a:r>
              <a:rPr lang="en-IN" dirty="0"/>
              <a:t>Describe the chart</a:t>
            </a:r>
          </a:p>
        </p:txBody>
      </p:sp>
      <p:sp>
        <p:nvSpPr>
          <p:cNvPr id="3" name="Text Placeholder 2">
            <a:extLst>
              <a:ext uri="{FF2B5EF4-FFF2-40B4-BE49-F238E27FC236}">
                <a16:creationId xmlns:a16="http://schemas.microsoft.com/office/drawing/2014/main" id="{26FDE40A-EAE6-8F67-2CBD-3176E7F0C560}"/>
              </a:ext>
            </a:extLst>
          </p:cNvPr>
          <p:cNvSpPr>
            <a:spLocks noGrp="1"/>
          </p:cNvSpPr>
          <p:nvPr>
            <p:ph type="body" idx="1"/>
          </p:nvPr>
        </p:nvSpPr>
        <p:spPr>
          <a:xfrm>
            <a:off x="300569" y="4195899"/>
            <a:ext cx="3912182" cy="366269"/>
          </a:xfrm>
        </p:spPr>
        <p:txBody>
          <a:bodyPr/>
          <a:lstStyle/>
          <a:p>
            <a:r>
              <a:rPr lang="en-IN" b="1" u="sng" dirty="0"/>
              <a:t>Line Chart</a:t>
            </a:r>
          </a:p>
        </p:txBody>
      </p:sp>
      <p:pic>
        <p:nvPicPr>
          <p:cNvPr id="13" name="Picture Placeholder 12">
            <a:extLst>
              <a:ext uri="{FF2B5EF4-FFF2-40B4-BE49-F238E27FC236}">
                <a16:creationId xmlns:a16="http://schemas.microsoft.com/office/drawing/2014/main" id="{BBF161A0-CE88-42BC-57D5-9996504DB317}"/>
              </a:ext>
            </a:extLst>
          </p:cNvPr>
          <p:cNvPicPr>
            <a:picLocks noGrp="1" noChangeAspect="1"/>
          </p:cNvPicPr>
          <p:nvPr>
            <p:ph type="pic" idx="15"/>
          </p:nvPr>
        </p:nvPicPr>
        <p:blipFill>
          <a:blip r:embed="rId2">
            <a:extLst>
              <a:ext uri="{28A0092B-C50C-407E-A947-70E740481C1C}">
                <a14:useLocalDpi xmlns:a14="http://schemas.microsoft.com/office/drawing/2010/main" val="0"/>
              </a:ext>
            </a:extLst>
          </a:blip>
          <a:srcRect l="-1739" r="-2"/>
          <a:stretch/>
        </p:blipFill>
        <p:spPr>
          <a:xfrm>
            <a:off x="115658" y="762307"/>
            <a:ext cx="3912181" cy="31130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 Placeholder 4">
            <a:extLst>
              <a:ext uri="{FF2B5EF4-FFF2-40B4-BE49-F238E27FC236}">
                <a16:creationId xmlns:a16="http://schemas.microsoft.com/office/drawing/2014/main" id="{376FBD7D-8E47-55A0-3AC4-7E0DB61104FF}"/>
              </a:ext>
            </a:extLst>
          </p:cNvPr>
          <p:cNvSpPr>
            <a:spLocks noGrp="1"/>
          </p:cNvSpPr>
          <p:nvPr>
            <p:ph type="body" sz="half" idx="18"/>
          </p:nvPr>
        </p:nvSpPr>
        <p:spPr>
          <a:xfrm>
            <a:off x="304801" y="4562168"/>
            <a:ext cx="3907950" cy="2054942"/>
          </a:xfrm>
        </p:spPr>
        <p:txBody>
          <a:bodyPr/>
          <a:lstStyle/>
          <a:p>
            <a:pPr algn="l">
              <a:buFont typeface="Arial" panose="020B0604020202020204" pitchFamily="34" charset="0"/>
              <a:buChar char="•"/>
            </a:pPr>
            <a:r>
              <a:rPr lang="en-IN" sz="1800" u="sng" dirty="0"/>
              <a:t>This chart </a:t>
            </a:r>
            <a:r>
              <a:rPr lang="en-IN" sz="1800" dirty="0"/>
              <a:t>-</a:t>
            </a:r>
            <a:r>
              <a:rPr lang="en-US" sz="1800" b="0" i="0" dirty="0">
                <a:effectLst/>
                <a:latin typeface="__Inter_d65c78"/>
              </a:rPr>
              <a:t>Highlight the overall trend in total sales over the years.</a:t>
            </a:r>
          </a:p>
          <a:p>
            <a:pPr algn="l">
              <a:buFont typeface="Arial" panose="020B0604020202020204" pitchFamily="34" charset="0"/>
              <a:buChar char="•"/>
            </a:pPr>
            <a:r>
              <a:rPr lang="en-US" sz="1800" b="0" i="0" dirty="0">
                <a:effectLst/>
                <a:latin typeface="__Inter_d65c78"/>
              </a:rPr>
              <a:t>Mention that the Grand Total of sales from 1998 to 2022 is approximately 1,201,681.</a:t>
            </a:r>
          </a:p>
          <a:p>
            <a:endParaRPr lang="en-IN" dirty="0"/>
          </a:p>
        </p:txBody>
      </p:sp>
      <p:sp>
        <p:nvSpPr>
          <p:cNvPr id="6" name="Text Placeholder 5">
            <a:extLst>
              <a:ext uri="{FF2B5EF4-FFF2-40B4-BE49-F238E27FC236}">
                <a16:creationId xmlns:a16="http://schemas.microsoft.com/office/drawing/2014/main" id="{D74F3979-D81B-7C42-7790-50279AE301CF}"/>
              </a:ext>
            </a:extLst>
          </p:cNvPr>
          <p:cNvSpPr>
            <a:spLocks noGrp="1"/>
          </p:cNvSpPr>
          <p:nvPr>
            <p:ph type="body" sz="quarter" idx="3"/>
          </p:nvPr>
        </p:nvSpPr>
        <p:spPr>
          <a:xfrm>
            <a:off x="4316363" y="4195899"/>
            <a:ext cx="3425322" cy="366269"/>
          </a:xfrm>
        </p:spPr>
        <p:txBody>
          <a:bodyPr/>
          <a:lstStyle/>
          <a:p>
            <a:r>
              <a:rPr lang="en-IN" b="1" u="sng" dirty="0"/>
              <a:t>Bar Chart</a:t>
            </a:r>
          </a:p>
        </p:txBody>
      </p:sp>
      <p:sp>
        <p:nvSpPr>
          <p:cNvPr id="8" name="Text Placeholder 7">
            <a:extLst>
              <a:ext uri="{FF2B5EF4-FFF2-40B4-BE49-F238E27FC236}">
                <a16:creationId xmlns:a16="http://schemas.microsoft.com/office/drawing/2014/main" id="{35B23BA2-B70B-B37A-B814-01A70E1AC982}"/>
              </a:ext>
            </a:extLst>
          </p:cNvPr>
          <p:cNvSpPr>
            <a:spLocks noGrp="1"/>
          </p:cNvSpPr>
          <p:nvPr>
            <p:ph type="body" sz="half" idx="19"/>
          </p:nvPr>
        </p:nvSpPr>
        <p:spPr>
          <a:xfrm>
            <a:off x="4316362" y="4562169"/>
            <a:ext cx="3425322" cy="2054942"/>
          </a:xfrm>
        </p:spPr>
        <p:txBody>
          <a:bodyPr>
            <a:noAutofit/>
          </a:bodyPr>
          <a:lstStyle/>
          <a:p>
            <a:pPr marL="285750" indent="-285750" algn="l">
              <a:buFont typeface="Arial" panose="020B0604020202020204" pitchFamily="34" charset="0"/>
              <a:buChar char="•"/>
            </a:pPr>
            <a:r>
              <a:rPr lang="en-IN" b="1" u="sng" dirty="0"/>
              <a:t>This chart-</a:t>
            </a:r>
            <a:r>
              <a:rPr lang="en-US" b="1" i="0" u="sng" dirty="0">
                <a:effectLst/>
                <a:latin typeface="__Inter_d65c78"/>
              </a:rPr>
              <a:t> </a:t>
            </a:r>
            <a:r>
              <a:rPr lang="en-US" b="0" i="0" dirty="0">
                <a:effectLst/>
                <a:latin typeface="__Inter_d65c78"/>
              </a:rPr>
              <a:t>Highlight the overall trend in total sales over the Outlet Location.</a:t>
            </a:r>
          </a:p>
          <a:p>
            <a:pPr marL="285750" indent="-285750" algn="l">
              <a:buFont typeface="Arial" panose="020B0604020202020204" pitchFamily="34" charset="0"/>
              <a:buChar char="•"/>
            </a:pPr>
            <a:r>
              <a:rPr lang="en-US" b="0" i="0" dirty="0">
                <a:effectLst/>
                <a:latin typeface="__Inter_d65c78"/>
              </a:rPr>
              <a:t>Low Fat products consistently have higher sales than Regular products across all tiers. This indicates a growing consumer preference for healthier options.</a:t>
            </a:r>
            <a:endParaRPr lang="en-IN" dirty="0"/>
          </a:p>
        </p:txBody>
      </p:sp>
      <p:sp>
        <p:nvSpPr>
          <p:cNvPr id="9" name="Text Placeholder 8">
            <a:extLst>
              <a:ext uri="{FF2B5EF4-FFF2-40B4-BE49-F238E27FC236}">
                <a16:creationId xmlns:a16="http://schemas.microsoft.com/office/drawing/2014/main" id="{2133EB83-8E9A-7D9A-3C1D-4A67EEF75407}"/>
              </a:ext>
            </a:extLst>
          </p:cNvPr>
          <p:cNvSpPr>
            <a:spLocks noGrp="1"/>
          </p:cNvSpPr>
          <p:nvPr>
            <p:ph type="body" sz="quarter" idx="13"/>
          </p:nvPr>
        </p:nvSpPr>
        <p:spPr>
          <a:xfrm>
            <a:off x="7838001" y="4195899"/>
            <a:ext cx="3425322" cy="366269"/>
          </a:xfrm>
        </p:spPr>
        <p:txBody>
          <a:bodyPr/>
          <a:lstStyle/>
          <a:p>
            <a:r>
              <a:rPr lang="en-IN" sz="2000" dirty="0"/>
              <a:t>Daunts</a:t>
            </a:r>
            <a:r>
              <a:rPr lang="en-IN" b="1" u="sng" dirty="0"/>
              <a:t> chart</a:t>
            </a:r>
          </a:p>
        </p:txBody>
      </p:sp>
      <p:sp>
        <p:nvSpPr>
          <p:cNvPr id="11" name="Text Placeholder 10">
            <a:extLst>
              <a:ext uri="{FF2B5EF4-FFF2-40B4-BE49-F238E27FC236}">
                <a16:creationId xmlns:a16="http://schemas.microsoft.com/office/drawing/2014/main" id="{A87CCBAA-530B-2809-F481-BDCCB2600CAF}"/>
              </a:ext>
            </a:extLst>
          </p:cNvPr>
          <p:cNvSpPr>
            <a:spLocks noGrp="1"/>
          </p:cNvSpPr>
          <p:nvPr>
            <p:ph type="body" sz="half" idx="20"/>
          </p:nvPr>
        </p:nvSpPr>
        <p:spPr>
          <a:xfrm>
            <a:off x="7842234" y="4562168"/>
            <a:ext cx="3425322" cy="2054941"/>
          </a:xfrm>
        </p:spPr>
        <p:txBody>
          <a:bodyPr/>
          <a:lstStyle/>
          <a:p>
            <a:pPr algn="l">
              <a:buFont typeface="Arial" panose="020B0604020202020204" pitchFamily="34" charset="0"/>
              <a:buChar char="•"/>
            </a:pPr>
            <a:r>
              <a:rPr lang="en-IN" sz="1600" b="1" u="sng" dirty="0"/>
              <a:t>This Chart-</a:t>
            </a:r>
            <a:r>
              <a:rPr lang="en-US" sz="1600" b="0" i="0" dirty="0">
                <a:effectLst/>
                <a:latin typeface="__Inter_d65c78"/>
              </a:rPr>
              <a:t>As you can see in the pie chart, we have two main categories: Low Fat and Regular products."</a:t>
            </a:r>
          </a:p>
          <a:p>
            <a:pPr algn="l">
              <a:buFont typeface="Arial" panose="020B0604020202020204" pitchFamily="34" charset="0"/>
              <a:buChar char="•"/>
            </a:pPr>
            <a:r>
              <a:rPr lang="en-US" sz="1600" b="0" i="0" dirty="0">
                <a:effectLst/>
                <a:latin typeface="__Inter_d65c78"/>
              </a:rPr>
              <a:t>"The total sales amount to approximately </a:t>
            </a:r>
            <a:r>
              <a:rPr lang="en-US" sz="1600" b="1" i="0" dirty="0">
                <a:effectLst/>
                <a:latin typeface="__Inter_d65c78"/>
              </a:rPr>
              <a:t>$1,201,681.48</a:t>
            </a:r>
            <a:endParaRPr lang="en-US" sz="1600" b="0" i="0" dirty="0">
              <a:effectLst/>
              <a:latin typeface="__Inter_d65c78"/>
            </a:endParaRPr>
          </a:p>
          <a:p>
            <a:pPr marL="285750" indent="-285750" algn="l">
              <a:buFont typeface="Arial" panose="020B0604020202020204" pitchFamily="34" charset="0"/>
              <a:buChar char="•"/>
            </a:pPr>
            <a:endParaRPr lang="en-IN" dirty="0"/>
          </a:p>
        </p:txBody>
      </p:sp>
      <p:pic>
        <p:nvPicPr>
          <p:cNvPr id="19" name="Picture Placeholder 18">
            <a:extLst>
              <a:ext uri="{FF2B5EF4-FFF2-40B4-BE49-F238E27FC236}">
                <a16:creationId xmlns:a16="http://schemas.microsoft.com/office/drawing/2014/main" id="{10426120-0627-48F3-4AEC-AB0CD44CB9CE}"/>
              </a:ext>
            </a:extLst>
          </p:cNvPr>
          <p:cNvPicPr>
            <a:picLocks noGrp="1" noChangeAspect="1"/>
          </p:cNvPicPr>
          <p:nvPr>
            <p:ph type="pic" idx="21"/>
          </p:nvPr>
        </p:nvPicPr>
        <p:blipFill>
          <a:blip r:embed="rId3">
            <a:extLst>
              <a:ext uri="{28A0092B-C50C-407E-A947-70E740481C1C}">
                <a14:useLocalDpi xmlns:a14="http://schemas.microsoft.com/office/drawing/2010/main" val="0"/>
              </a:ext>
            </a:extLst>
          </a:blip>
          <a:srcRect l="-3223" t="2924" b="-657"/>
          <a:stretch/>
        </p:blipFill>
        <p:spPr>
          <a:xfrm>
            <a:off x="4209621" y="762307"/>
            <a:ext cx="3425321" cy="3060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7" name="Picture Placeholder 26">
            <a:extLst>
              <a:ext uri="{FF2B5EF4-FFF2-40B4-BE49-F238E27FC236}">
                <a16:creationId xmlns:a16="http://schemas.microsoft.com/office/drawing/2014/main" id="{DD592B07-FCC6-8E95-765C-C71504F64DA4}"/>
              </a:ext>
            </a:extLst>
          </p:cNvPr>
          <p:cNvSpPr>
            <a:spLocks noGrp="1"/>
          </p:cNvSpPr>
          <p:nvPr>
            <p:ph type="pic" idx="22"/>
          </p:nvPr>
        </p:nvSpPr>
        <p:spPr/>
      </p:sp>
      <p:pic>
        <p:nvPicPr>
          <p:cNvPr id="28" name="Picture Placeholder 24">
            <a:extLst>
              <a:ext uri="{FF2B5EF4-FFF2-40B4-BE49-F238E27FC236}">
                <a16:creationId xmlns:a16="http://schemas.microsoft.com/office/drawing/2014/main" id="{7A20062F-4477-8BC9-5136-34DC22181508}"/>
              </a:ext>
            </a:extLst>
          </p:cNvPr>
          <p:cNvPicPr>
            <a:picLocks noChangeAspect="1"/>
          </p:cNvPicPr>
          <p:nvPr/>
        </p:nvPicPr>
        <p:blipFill>
          <a:blip r:embed="rId4">
            <a:extLst>
              <a:ext uri="{28A0092B-C50C-407E-A947-70E740481C1C}">
                <a14:useLocalDpi xmlns:a14="http://schemas.microsoft.com/office/drawing/2010/main" val="0"/>
              </a:ext>
            </a:extLst>
          </a:blip>
          <a:srcRect t="-111" b="3326"/>
          <a:stretch/>
        </p:blipFill>
        <p:spPr>
          <a:xfrm>
            <a:off x="7838001" y="762307"/>
            <a:ext cx="4098360" cy="3060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23797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0915-82DE-03CE-C35D-BDDE1A70B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9EB27-F64A-DFB5-6E3F-DEBB65A49CF6}"/>
              </a:ext>
            </a:extLst>
          </p:cNvPr>
          <p:cNvSpPr>
            <a:spLocks noGrp="1"/>
          </p:cNvSpPr>
          <p:nvPr>
            <p:ph type="title"/>
          </p:nvPr>
        </p:nvSpPr>
        <p:spPr>
          <a:xfrm>
            <a:off x="913795" y="0"/>
            <a:ext cx="10353762" cy="762307"/>
          </a:xfrm>
        </p:spPr>
        <p:txBody>
          <a:bodyPr/>
          <a:lstStyle/>
          <a:p>
            <a:r>
              <a:rPr lang="en-IN" dirty="0"/>
              <a:t>Describe the chart</a:t>
            </a:r>
          </a:p>
        </p:txBody>
      </p:sp>
      <p:sp>
        <p:nvSpPr>
          <p:cNvPr id="3" name="Text Placeholder 2">
            <a:extLst>
              <a:ext uri="{FF2B5EF4-FFF2-40B4-BE49-F238E27FC236}">
                <a16:creationId xmlns:a16="http://schemas.microsoft.com/office/drawing/2014/main" id="{2477735E-9E78-69EA-672B-5BD97BBCC8CD}"/>
              </a:ext>
            </a:extLst>
          </p:cNvPr>
          <p:cNvSpPr>
            <a:spLocks noGrp="1"/>
          </p:cNvSpPr>
          <p:nvPr>
            <p:ph type="body" idx="1"/>
          </p:nvPr>
        </p:nvSpPr>
        <p:spPr>
          <a:xfrm>
            <a:off x="300569" y="4195899"/>
            <a:ext cx="3912182" cy="366269"/>
          </a:xfrm>
        </p:spPr>
        <p:txBody>
          <a:bodyPr/>
          <a:lstStyle/>
          <a:p>
            <a:r>
              <a:rPr lang="en-IN" sz="2000" dirty="0"/>
              <a:t>Daunts</a:t>
            </a:r>
            <a:r>
              <a:rPr lang="en-IN" b="1" u="sng" dirty="0"/>
              <a:t>  Chart</a:t>
            </a:r>
          </a:p>
        </p:txBody>
      </p:sp>
      <p:sp>
        <p:nvSpPr>
          <p:cNvPr id="5" name="Text Placeholder 4">
            <a:extLst>
              <a:ext uri="{FF2B5EF4-FFF2-40B4-BE49-F238E27FC236}">
                <a16:creationId xmlns:a16="http://schemas.microsoft.com/office/drawing/2014/main" id="{42E00F4C-A6E1-3DDB-DCB2-F96A2F215241}"/>
              </a:ext>
            </a:extLst>
          </p:cNvPr>
          <p:cNvSpPr>
            <a:spLocks noGrp="1"/>
          </p:cNvSpPr>
          <p:nvPr>
            <p:ph type="body" sz="half" idx="18"/>
          </p:nvPr>
        </p:nvSpPr>
        <p:spPr>
          <a:xfrm>
            <a:off x="304801" y="4562168"/>
            <a:ext cx="3907950" cy="2054942"/>
          </a:xfrm>
        </p:spPr>
        <p:txBody>
          <a:bodyPr>
            <a:normAutofit fontScale="92500" lnSpcReduction="10000"/>
          </a:bodyPr>
          <a:lstStyle/>
          <a:p>
            <a:pPr algn="l">
              <a:buFont typeface="Arial" panose="020B0604020202020204" pitchFamily="34" charset="0"/>
              <a:buChar char="•"/>
            </a:pPr>
            <a:r>
              <a:rPr lang="en-IN" sz="1800" u="sng" dirty="0"/>
              <a:t>This chart </a:t>
            </a:r>
            <a:r>
              <a:rPr lang="en-IN" sz="1800" dirty="0"/>
              <a:t>-</a:t>
            </a:r>
            <a:r>
              <a:rPr lang="en-US" sz="1800" b="0" i="0" dirty="0">
                <a:effectLst/>
                <a:latin typeface="__Inter_d65c78"/>
              </a:rPr>
              <a:t>Highlight the overall trend in total sales over the </a:t>
            </a:r>
            <a:r>
              <a:rPr lang="en-US" sz="1800" dirty="0">
                <a:effectLst/>
                <a:latin typeface="__Inter_d65c78"/>
              </a:rPr>
              <a:t>Outlet Size</a:t>
            </a:r>
            <a:r>
              <a:rPr lang="en-US" sz="1800" b="0" i="0" dirty="0">
                <a:effectLst/>
                <a:latin typeface="__Inter_d65c78"/>
              </a:rPr>
              <a:t>.</a:t>
            </a:r>
          </a:p>
          <a:p>
            <a:pPr algn="l">
              <a:buFont typeface="Arial" panose="020B0604020202020204" pitchFamily="34" charset="0"/>
              <a:buChar char="•"/>
            </a:pPr>
            <a:r>
              <a:rPr lang="en-US" b="0" i="0" dirty="0">
                <a:effectLst/>
                <a:latin typeface="__Inter_d65c78"/>
              </a:rPr>
              <a:t>In this pie chart, we can see the total sales amounting to approximately </a:t>
            </a:r>
            <a:r>
              <a:rPr lang="en-US" b="1" i="0" dirty="0">
                <a:effectLst/>
                <a:latin typeface="__Inter_d65c78"/>
              </a:rPr>
              <a:t>$1,201,681</a:t>
            </a:r>
            <a:r>
              <a:rPr lang="en-US" b="0" i="0" dirty="0">
                <a:effectLst/>
                <a:latin typeface="__Inter_d65c78"/>
              </a:rPr>
              <a:t>."</a:t>
            </a:r>
          </a:p>
          <a:p>
            <a:pPr algn="l">
              <a:buFont typeface="Arial" panose="020B0604020202020204" pitchFamily="34" charset="0"/>
              <a:buChar char="•"/>
            </a:pPr>
            <a:r>
              <a:rPr lang="en-US" b="0" i="0" dirty="0">
                <a:effectLst/>
                <a:latin typeface="__Inter_d65c78"/>
              </a:rPr>
              <a:t>"The chart is divided into three segments representing the sales figures for High, Medium, and Small categories.</a:t>
            </a:r>
          </a:p>
          <a:p>
            <a:endParaRPr lang="en-IN" dirty="0"/>
          </a:p>
        </p:txBody>
      </p:sp>
      <p:sp>
        <p:nvSpPr>
          <p:cNvPr id="6" name="Text Placeholder 5">
            <a:extLst>
              <a:ext uri="{FF2B5EF4-FFF2-40B4-BE49-F238E27FC236}">
                <a16:creationId xmlns:a16="http://schemas.microsoft.com/office/drawing/2014/main" id="{5E13EE3E-1268-91A7-70EB-30CA951072D4}"/>
              </a:ext>
            </a:extLst>
          </p:cNvPr>
          <p:cNvSpPr>
            <a:spLocks noGrp="1"/>
          </p:cNvSpPr>
          <p:nvPr>
            <p:ph type="body" sz="quarter" idx="3"/>
          </p:nvPr>
        </p:nvSpPr>
        <p:spPr>
          <a:xfrm>
            <a:off x="4316363" y="4195899"/>
            <a:ext cx="3425322" cy="366269"/>
          </a:xfrm>
        </p:spPr>
        <p:txBody>
          <a:bodyPr/>
          <a:lstStyle/>
          <a:p>
            <a:r>
              <a:rPr lang="en-IN" b="1" u="sng" dirty="0"/>
              <a:t>Bar Chart</a:t>
            </a:r>
          </a:p>
        </p:txBody>
      </p:sp>
      <p:sp>
        <p:nvSpPr>
          <p:cNvPr id="8" name="Text Placeholder 7">
            <a:extLst>
              <a:ext uri="{FF2B5EF4-FFF2-40B4-BE49-F238E27FC236}">
                <a16:creationId xmlns:a16="http://schemas.microsoft.com/office/drawing/2014/main" id="{2AB72C54-23D5-A40D-CF6C-73E8E2631378}"/>
              </a:ext>
            </a:extLst>
          </p:cNvPr>
          <p:cNvSpPr>
            <a:spLocks noGrp="1"/>
          </p:cNvSpPr>
          <p:nvPr>
            <p:ph type="body" sz="half" idx="19"/>
          </p:nvPr>
        </p:nvSpPr>
        <p:spPr>
          <a:xfrm>
            <a:off x="4316362" y="4562169"/>
            <a:ext cx="3425322" cy="2054942"/>
          </a:xfrm>
        </p:spPr>
        <p:txBody>
          <a:bodyPr>
            <a:noAutofit/>
          </a:bodyPr>
          <a:lstStyle/>
          <a:p>
            <a:pPr marL="285750" indent="-285750" algn="l">
              <a:buFont typeface="Arial" panose="020B0604020202020204" pitchFamily="34" charset="0"/>
              <a:buChar char="•"/>
            </a:pPr>
            <a:r>
              <a:rPr lang="en-IN" sz="1800" b="1" u="sng" dirty="0"/>
              <a:t>This chart-</a:t>
            </a:r>
            <a:r>
              <a:rPr lang="en-US" sz="1800" b="1" i="0" u="sng" dirty="0">
                <a:effectLst/>
                <a:latin typeface="__Inter_d65c78"/>
              </a:rPr>
              <a:t> </a:t>
            </a:r>
            <a:r>
              <a:rPr lang="en-US" sz="1600" b="0" i="0" dirty="0">
                <a:effectLst/>
                <a:latin typeface="__Inter_d65c78"/>
              </a:rPr>
              <a:t>Highlight the overall trend in </a:t>
            </a:r>
            <a:r>
              <a:rPr lang="en-US" sz="1600" dirty="0">
                <a:effectLst/>
                <a:latin typeface="__Inter_d65c78"/>
              </a:rPr>
              <a:t>Avg </a:t>
            </a:r>
            <a:r>
              <a:rPr lang="en-US" sz="1600" b="0" i="0" dirty="0">
                <a:effectLst/>
                <a:latin typeface="__Inter_d65c78"/>
              </a:rPr>
              <a:t>sales over the Outlet </a:t>
            </a:r>
            <a:r>
              <a:rPr lang="en-US" sz="1600" dirty="0">
                <a:effectLst/>
                <a:latin typeface="__Inter_d65c78"/>
              </a:rPr>
              <a:t>Type</a:t>
            </a:r>
            <a:r>
              <a:rPr lang="en-US" sz="1600" b="0" i="0" dirty="0">
                <a:effectLst/>
                <a:latin typeface="__Inter_d65c78"/>
              </a:rPr>
              <a:t>.</a:t>
            </a:r>
          </a:p>
          <a:p>
            <a:pPr marL="285750" indent="-285750" algn="l">
              <a:buFont typeface="Arial" panose="020B0604020202020204" pitchFamily="34" charset="0"/>
              <a:buChar char="•"/>
            </a:pPr>
            <a:r>
              <a:rPr lang="en-US" sz="1600" b="0" i="0" dirty="0">
                <a:effectLst/>
                <a:latin typeface="__Inter_d65c78"/>
              </a:rPr>
              <a:t>In this bar chart, we can see the average total sales for each store type</a:t>
            </a:r>
            <a:r>
              <a:rPr lang="en-US" b="0" i="0" dirty="0">
                <a:effectLst/>
                <a:latin typeface="__Inter_d65c78"/>
              </a:rPr>
              <a:t>.</a:t>
            </a:r>
          </a:p>
        </p:txBody>
      </p:sp>
      <p:sp>
        <p:nvSpPr>
          <p:cNvPr id="9" name="Text Placeholder 8">
            <a:extLst>
              <a:ext uri="{FF2B5EF4-FFF2-40B4-BE49-F238E27FC236}">
                <a16:creationId xmlns:a16="http://schemas.microsoft.com/office/drawing/2014/main" id="{9FF3A28F-7748-1945-169B-E2272CCD84DA}"/>
              </a:ext>
            </a:extLst>
          </p:cNvPr>
          <p:cNvSpPr>
            <a:spLocks noGrp="1"/>
          </p:cNvSpPr>
          <p:nvPr>
            <p:ph type="body" sz="quarter" idx="13"/>
          </p:nvPr>
        </p:nvSpPr>
        <p:spPr>
          <a:xfrm>
            <a:off x="7838001" y="4195899"/>
            <a:ext cx="3425322" cy="366269"/>
          </a:xfrm>
        </p:spPr>
        <p:txBody>
          <a:bodyPr/>
          <a:lstStyle/>
          <a:p>
            <a:r>
              <a:rPr lang="en-IN" b="1" u="sng" dirty="0"/>
              <a:t>Bar chart</a:t>
            </a:r>
          </a:p>
        </p:txBody>
      </p:sp>
      <p:sp>
        <p:nvSpPr>
          <p:cNvPr id="11" name="Text Placeholder 10">
            <a:extLst>
              <a:ext uri="{FF2B5EF4-FFF2-40B4-BE49-F238E27FC236}">
                <a16:creationId xmlns:a16="http://schemas.microsoft.com/office/drawing/2014/main" id="{1E722520-D378-F449-24DA-57860650F31D}"/>
              </a:ext>
            </a:extLst>
          </p:cNvPr>
          <p:cNvSpPr>
            <a:spLocks noGrp="1"/>
          </p:cNvSpPr>
          <p:nvPr>
            <p:ph type="body" sz="half" idx="20"/>
          </p:nvPr>
        </p:nvSpPr>
        <p:spPr>
          <a:xfrm>
            <a:off x="7842234" y="4562168"/>
            <a:ext cx="3425322" cy="2054941"/>
          </a:xfrm>
        </p:spPr>
        <p:txBody>
          <a:bodyPr/>
          <a:lstStyle/>
          <a:p>
            <a:pPr algn="l">
              <a:buFont typeface="Arial" panose="020B0604020202020204" pitchFamily="34" charset="0"/>
              <a:buChar char="•"/>
            </a:pPr>
            <a:r>
              <a:rPr lang="en-IN" sz="1600" b="1" u="sng" dirty="0"/>
              <a:t>This Chart-</a:t>
            </a:r>
            <a:r>
              <a:rPr lang="en-US" sz="1600" b="0" i="0" dirty="0">
                <a:effectLst/>
                <a:latin typeface="__Inter_d65c78"/>
              </a:rPr>
              <a:t>. Highlight the overall trend in No of Item over the Outlet </a:t>
            </a:r>
            <a:r>
              <a:rPr lang="en-US" sz="1600" dirty="0">
                <a:effectLst/>
                <a:latin typeface="__Inter_d65c78"/>
              </a:rPr>
              <a:t>Type</a:t>
            </a:r>
            <a:r>
              <a:rPr lang="en-US" sz="1600" b="0" i="0" dirty="0">
                <a:effectLst/>
                <a:latin typeface="__Inter_d65c78"/>
              </a:rPr>
              <a:t>.</a:t>
            </a:r>
          </a:p>
          <a:p>
            <a:pPr algn="l">
              <a:buFont typeface="Arial" panose="020B0604020202020204" pitchFamily="34" charset="0"/>
              <a:buChar char="•"/>
            </a:pPr>
            <a:r>
              <a:rPr lang="en-US" sz="1600" b="0" i="0" dirty="0">
                <a:effectLst/>
                <a:latin typeface="__Inter_d65c78"/>
              </a:rPr>
              <a:t>"The </a:t>
            </a:r>
            <a:r>
              <a:rPr lang="en-US" sz="1600" dirty="0">
                <a:effectLst/>
                <a:latin typeface="__Inter_d65c78"/>
              </a:rPr>
              <a:t>No of Items</a:t>
            </a:r>
            <a:r>
              <a:rPr lang="en-US" sz="1600" b="0" i="0" dirty="0">
                <a:effectLst/>
                <a:latin typeface="__Inter_d65c78"/>
              </a:rPr>
              <a:t> approximately </a:t>
            </a:r>
            <a:r>
              <a:rPr lang="en-US" sz="1600" b="1" dirty="0">
                <a:effectLst/>
                <a:latin typeface="__Inter_d65c78"/>
              </a:rPr>
              <a:t> 5577.</a:t>
            </a:r>
            <a:endParaRPr lang="en-US" sz="1600" b="0" i="0" dirty="0">
              <a:effectLst/>
              <a:latin typeface="__Inter_d65c78"/>
            </a:endParaRPr>
          </a:p>
          <a:p>
            <a:pPr marL="285750" indent="-285750" algn="l">
              <a:buFont typeface="Arial" panose="020B0604020202020204" pitchFamily="34" charset="0"/>
              <a:buChar char="•"/>
            </a:pPr>
            <a:endParaRPr lang="en-IN" dirty="0"/>
          </a:p>
        </p:txBody>
      </p:sp>
      <p:pic>
        <p:nvPicPr>
          <p:cNvPr id="27" name="Picture Placeholder 26">
            <a:extLst>
              <a:ext uri="{FF2B5EF4-FFF2-40B4-BE49-F238E27FC236}">
                <a16:creationId xmlns:a16="http://schemas.microsoft.com/office/drawing/2014/main" id="{D512FC0A-7C64-31F1-9499-C295AE8886F9}"/>
              </a:ext>
            </a:extLst>
          </p:cNvPr>
          <p:cNvPicPr>
            <a:picLocks noGrp="1" noChangeAspect="1"/>
          </p:cNvPicPr>
          <p:nvPr>
            <p:ph type="pic" idx="15"/>
          </p:nvPr>
        </p:nvPicPr>
        <p:blipFill>
          <a:blip r:embed="rId2">
            <a:extLst>
              <a:ext uri="{28A0092B-C50C-407E-A947-70E740481C1C}">
                <a14:useLocalDpi xmlns:a14="http://schemas.microsoft.com/office/drawing/2010/main" val="0"/>
              </a:ext>
            </a:extLst>
          </a:blip>
          <a:srcRect l="-992" t="-1426" r="877"/>
          <a:stretch/>
        </p:blipFill>
        <p:spPr>
          <a:xfrm>
            <a:off x="300569" y="762307"/>
            <a:ext cx="3705993" cy="3060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1" name="Picture Placeholder 30">
            <a:extLst>
              <a:ext uri="{FF2B5EF4-FFF2-40B4-BE49-F238E27FC236}">
                <a16:creationId xmlns:a16="http://schemas.microsoft.com/office/drawing/2014/main" id="{0E87A9CA-C5E0-BE4C-9195-6CAB5FAFE87E}"/>
              </a:ext>
            </a:extLst>
          </p:cNvPr>
          <p:cNvPicPr>
            <a:picLocks noGrp="1" noChangeAspect="1"/>
          </p:cNvPicPr>
          <p:nvPr>
            <p:ph type="pic" idx="21"/>
          </p:nvPr>
        </p:nvPicPr>
        <p:blipFill>
          <a:blip r:embed="rId3">
            <a:extLst>
              <a:ext uri="{28A0092B-C50C-407E-A947-70E740481C1C}">
                <a14:useLocalDpi xmlns:a14="http://schemas.microsoft.com/office/drawing/2010/main" val="0"/>
              </a:ext>
            </a:extLst>
          </a:blip>
          <a:srcRect t="207"/>
          <a:stretch/>
        </p:blipFill>
        <p:spPr>
          <a:xfrm>
            <a:off x="4212752" y="762307"/>
            <a:ext cx="3528932" cy="30606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5" name="Picture Placeholder 34">
            <a:extLst>
              <a:ext uri="{FF2B5EF4-FFF2-40B4-BE49-F238E27FC236}">
                <a16:creationId xmlns:a16="http://schemas.microsoft.com/office/drawing/2014/main" id="{1B5688F1-4FC9-9772-E7DF-3E37064A47A2}"/>
              </a:ext>
            </a:extLst>
          </p:cNvPr>
          <p:cNvPicPr>
            <a:picLocks noGrp="1" noChangeAspect="1"/>
          </p:cNvPicPr>
          <p:nvPr>
            <p:ph type="pic" idx="22"/>
          </p:nvPr>
        </p:nvPicPr>
        <p:blipFill>
          <a:blip r:embed="rId4">
            <a:extLst>
              <a:ext uri="{28A0092B-C50C-407E-A947-70E740481C1C}">
                <a14:useLocalDpi xmlns:a14="http://schemas.microsoft.com/office/drawing/2010/main" val="0"/>
              </a:ext>
            </a:extLst>
          </a:blip>
          <a:srcRect l="2326" t="-1426" r="-2326"/>
          <a:stretch/>
        </p:blipFill>
        <p:spPr>
          <a:xfrm>
            <a:off x="7947875" y="762307"/>
            <a:ext cx="3821338" cy="3060680"/>
          </a:xfrm>
        </p:spPr>
      </p:pic>
    </p:spTree>
    <p:extLst>
      <p:ext uri="{BB962C8B-B14F-4D97-AF65-F5344CB8AC3E}">
        <p14:creationId xmlns:p14="http://schemas.microsoft.com/office/powerpoint/2010/main" val="1271985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337C-B3A5-4035-5A95-CA0B2FBD4BC4}"/>
              </a:ext>
            </a:extLst>
          </p:cNvPr>
          <p:cNvSpPr>
            <a:spLocks noGrp="1"/>
          </p:cNvSpPr>
          <p:nvPr>
            <p:ph type="title"/>
          </p:nvPr>
        </p:nvSpPr>
        <p:spPr>
          <a:xfrm>
            <a:off x="913795" y="609601"/>
            <a:ext cx="10353761" cy="457200"/>
          </a:xfrm>
        </p:spPr>
        <p:txBody>
          <a:bodyPr>
            <a:normAutofit fontScale="90000"/>
          </a:bodyPr>
          <a:lstStyle/>
          <a:p>
            <a:r>
              <a:rPr lang="en-IN" dirty="0"/>
              <a:t>Describe the chart</a:t>
            </a:r>
          </a:p>
        </p:txBody>
      </p:sp>
      <p:sp>
        <p:nvSpPr>
          <p:cNvPr id="4" name="Content Placeholder 3">
            <a:extLst>
              <a:ext uri="{FF2B5EF4-FFF2-40B4-BE49-F238E27FC236}">
                <a16:creationId xmlns:a16="http://schemas.microsoft.com/office/drawing/2014/main" id="{CF642139-A1DC-BFD2-7549-8CB0BA6FCA5C}"/>
              </a:ext>
            </a:extLst>
          </p:cNvPr>
          <p:cNvSpPr>
            <a:spLocks noGrp="1"/>
          </p:cNvSpPr>
          <p:nvPr>
            <p:ph sz="half" idx="2"/>
          </p:nvPr>
        </p:nvSpPr>
        <p:spPr>
          <a:xfrm>
            <a:off x="1160206" y="1199535"/>
            <a:ext cx="4935794" cy="5407742"/>
          </a:xfrm>
        </p:spPr>
        <p:txBody>
          <a:bodyPr/>
          <a:lstStyle/>
          <a:p>
            <a:r>
              <a:rPr lang="en-US" b="0" i="0" dirty="0">
                <a:effectLst/>
                <a:latin typeface="__Inter_d65c78"/>
              </a:rPr>
              <a:t>In this bar chart, we can see the total sales figures for each food category.</a:t>
            </a:r>
          </a:p>
          <a:p>
            <a:pPr algn="l">
              <a:buFont typeface="Arial" panose="020B0604020202020204" pitchFamily="34" charset="0"/>
              <a:buChar char="•"/>
            </a:pPr>
            <a:r>
              <a:rPr lang="en-US" b="0" i="0" dirty="0">
                <a:effectLst/>
                <a:latin typeface="__Inter_d65c78"/>
              </a:rPr>
              <a:t>From the chart, we can see that </a:t>
            </a:r>
            <a:r>
              <a:rPr lang="en-US" b="1" i="0" dirty="0">
                <a:effectLst/>
                <a:latin typeface="__Inter_d65c78"/>
              </a:rPr>
              <a:t>Fruits and Vegetables</a:t>
            </a:r>
            <a:r>
              <a:rPr lang="en-US" b="0" i="0" dirty="0">
                <a:effectLst/>
                <a:latin typeface="__Inter_d65c78"/>
              </a:rPr>
              <a:t> lead in total sales, indicating a strong consumer preference for fresh produce."</a:t>
            </a:r>
          </a:p>
          <a:p>
            <a:pPr algn="l">
              <a:buFont typeface="Arial" panose="020B0604020202020204" pitchFamily="34" charset="0"/>
              <a:buChar char="•"/>
            </a:pPr>
            <a:r>
              <a:rPr lang="en-US" b="0" i="0" dirty="0">
                <a:effectLst/>
                <a:latin typeface="__Inter_d65c78"/>
              </a:rPr>
              <a:t>"Following closely are </a:t>
            </a:r>
            <a:r>
              <a:rPr lang="en-US" b="1" i="0" dirty="0">
                <a:effectLst/>
                <a:latin typeface="__Inter_d65c78"/>
              </a:rPr>
              <a:t>Snack Foods</a:t>
            </a:r>
            <a:r>
              <a:rPr lang="en-US" b="0" i="0" dirty="0">
                <a:effectLst/>
                <a:latin typeface="__Inter_d65c78"/>
              </a:rPr>
              <a:t> and </a:t>
            </a:r>
            <a:r>
              <a:rPr lang="en-US" b="1" i="0" dirty="0">
                <a:effectLst/>
                <a:latin typeface="__Inter_d65c78"/>
              </a:rPr>
              <a:t>Household</a:t>
            </a:r>
            <a:r>
              <a:rPr lang="en-US" b="0" i="0" dirty="0">
                <a:effectLst/>
                <a:latin typeface="__Inter_d65c78"/>
              </a:rPr>
              <a:t> items, which also show significant sales figures."</a:t>
            </a:r>
          </a:p>
          <a:p>
            <a:pPr algn="l">
              <a:buFont typeface="Arial" panose="020B0604020202020204" pitchFamily="34" charset="0"/>
              <a:buChar char="•"/>
            </a:pPr>
            <a:r>
              <a:rPr lang="en-US" b="0" i="0" dirty="0">
                <a:effectLst/>
                <a:latin typeface="__Inter_d65c78"/>
              </a:rPr>
              <a:t>"On the other hand, categories like </a:t>
            </a:r>
            <a:r>
              <a:rPr lang="en-US" b="1" i="0" dirty="0">
                <a:effectLst/>
                <a:latin typeface="__Inter_d65c78"/>
              </a:rPr>
              <a:t>Seafood</a:t>
            </a:r>
            <a:r>
              <a:rPr lang="en-US" b="0" i="0" dirty="0">
                <a:effectLst/>
                <a:latin typeface="__Inter_d65c78"/>
              </a:rPr>
              <a:t> and </a:t>
            </a:r>
            <a:r>
              <a:rPr lang="en-US" b="1" i="0" dirty="0">
                <a:effectLst/>
                <a:latin typeface="__Inter_d65c78"/>
              </a:rPr>
              <a:t>Breakfast</a:t>
            </a:r>
            <a:r>
              <a:rPr lang="en-US" b="0" i="0" dirty="0">
                <a:effectLst/>
                <a:latin typeface="__Inter_d65c78"/>
              </a:rPr>
              <a:t> have the lowest sales, suggesting potential areas for growth or marketing focus."</a:t>
            </a:r>
          </a:p>
          <a:p>
            <a:endParaRPr lang="en-IN" dirty="0"/>
          </a:p>
        </p:txBody>
      </p:sp>
      <p:pic>
        <p:nvPicPr>
          <p:cNvPr id="19" name="Content Placeholder 18">
            <a:extLst>
              <a:ext uri="{FF2B5EF4-FFF2-40B4-BE49-F238E27FC236}">
                <a16:creationId xmlns:a16="http://schemas.microsoft.com/office/drawing/2014/main" id="{85197B4C-20F6-59A4-5AB1-71372AFF161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1195" t="1" r="1195" b="-1997"/>
          <a:stretch/>
        </p:blipFill>
        <p:spPr>
          <a:xfrm>
            <a:off x="7108724" y="1199535"/>
            <a:ext cx="4935794" cy="5048864"/>
          </a:xfrm>
        </p:spPr>
      </p:pic>
    </p:spTree>
    <p:extLst>
      <p:ext uri="{BB962C8B-B14F-4D97-AF65-F5344CB8AC3E}">
        <p14:creationId xmlns:p14="http://schemas.microsoft.com/office/powerpoint/2010/main" val="309766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22C27-1B9F-5B13-ADBF-3738C5CAB18D}"/>
              </a:ext>
            </a:extLst>
          </p:cNvPr>
          <p:cNvSpPr>
            <a:spLocks noGrp="1"/>
          </p:cNvSpPr>
          <p:nvPr>
            <p:ph type="title"/>
          </p:nvPr>
        </p:nvSpPr>
        <p:spPr>
          <a:xfrm>
            <a:off x="913795" y="137652"/>
            <a:ext cx="10353761" cy="823913"/>
          </a:xfrm>
        </p:spPr>
        <p:txBody>
          <a:bodyPr/>
          <a:lstStyle/>
          <a:p>
            <a:r>
              <a:rPr lang="en-IN" dirty="0"/>
              <a:t>Describe the chart</a:t>
            </a:r>
          </a:p>
        </p:txBody>
      </p:sp>
      <p:sp>
        <p:nvSpPr>
          <p:cNvPr id="3" name="Text Placeholder 2">
            <a:extLst>
              <a:ext uri="{FF2B5EF4-FFF2-40B4-BE49-F238E27FC236}">
                <a16:creationId xmlns:a16="http://schemas.microsoft.com/office/drawing/2014/main" id="{8112FC41-9107-9BBA-1826-0545BB3C3F90}"/>
              </a:ext>
            </a:extLst>
          </p:cNvPr>
          <p:cNvSpPr>
            <a:spLocks noGrp="1"/>
          </p:cNvSpPr>
          <p:nvPr>
            <p:ph type="body" idx="1"/>
          </p:nvPr>
        </p:nvSpPr>
        <p:spPr>
          <a:xfrm>
            <a:off x="678426" y="961565"/>
            <a:ext cx="5342577" cy="2892680"/>
          </a:xfrm>
        </p:spPr>
        <p:txBody>
          <a:bodyPr>
            <a:normAutofit lnSpcReduction="10000"/>
          </a:bodyPr>
          <a:lstStyle/>
          <a:p>
            <a:pPr algn="l">
              <a:buFont typeface="Arial" panose="020B0604020202020204" pitchFamily="34" charset="0"/>
              <a:buChar char="•"/>
            </a:pPr>
            <a:endParaRPr lang="en-US" b="0" i="0" dirty="0">
              <a:effectLst/>
              <a:latin typeface="__Inter_d65c78"/>
            </a:endParaRPr>
          </a:p>
          <a:p>
            <a:pPr algn="l">
              <a:buFont typeface="Arial" panose="020B0604020202020204" pitchFamily="34" charset="0"/>
              <a:buChar char="•"/>
            </a:pPr>
            <a:r>
              <a:rPr lang="en-US" i="1" u="sng" dirty="0">
                <a:effectLst>
                  <a:outerShdw blurRad="38100" dist="38100" dir="2700000" algn="tl">
                    <a:srgbClr val="000000">
                      <a:alpha val="43137"/>
                    </a:srgbClr>
                  </a:outerShdw>
                </a:effectLst>
                <a:latin typeface="__Inter_d65c78"/>
              </a:rPr>
              <a:t>Funnel Chart</a:t>
            </a:r>
          </a:p>
          <a:p>
            <a:pPr algn="l">
              <a:buFont typeface="Arial" panose="020B0604020202020204" pitchFamily="34" charset="0"/>
              <a:buChar char="•"/>
            </a:pPr>
            <a:r>
              <a:rPr lang="en-US" b="0" i="0" dirty="0">
                <a:effectLst/>
                <a:latin typeface="__Inter_d65c78"/>
              </a:rPr>
              <a:t>In this funnel chart, we can see the total sales figures for each tier."</a:t>
            </a:r>
          </a:p>
          <a:p>
            <a:pPr algn="l">
              <a:buFont typeface="Arial" panose="020B0604020202020204" pitchFamily="34" charset="0"/>
              <a:buChar char="•"/>
            </a:pPr>
            <a:r>
              <a:rPr lang="en-US" b="0" i="0" dirty="0">
                <a:effectLst/>
                <a:latin typeface="__Inter_d65c78"/>
              </a:rPr>
              <a:t>"The widest part of the funnel represents Tier 3, followed by Tier 2, and finally Tier 1 at the narrowest point</a:t>
            </a:r>
          </a:p>
          <a:p>
            <a:endParaRPr lang="en-IN" dirty="0"/>
          </a:p>
        </p:txBody>
      </p:sp>
      <p:pic>
        <p:nvPicPr>
          <p:cNvPr id="8" name="Content Placeholder 7">
            <a:extLst>
              <a:ext uri="{FF2B5EF4-FFF2-40B4-BE49-F238E27FC236}">
                <a16:creationId xmlns:a16="http://schemas.microsoft.com/office/drawing/2014/main" id="{1B0D4144-A553-411B-712B-3EDC5EB9553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76749" y="3608439"/>
            <a:ext cx="4503174" cy="2979174"/>
          </a:xfrm>
        </p:spPr>
      </p:pic>
      <p:sp>
        <p:nvSpPr>
          <p:cNvPr id="5" name="Text Placeholder 4">
            <a:extLst>
              <a:ext uri="{FF2B5EF4-FFF2-40B4-BE49-F238E27FC236}">
                <a16:creationId xmlns:a16="http://schemas.microsoft.com/office/drawing/2014/main" id="{E56593C1-5630-F82B-B41A-E492E1A5E9C5}"/>
              </a:ext>
            </a:extLst>
          </p:cNvPr>
          <p:cNvSpPr>
            <a:spLocks noGrp="1"/>
          </p:cNvSpPr>
          <p:nvPr>
            <p:ph type="body" sz="quarter" idx="3"/>
          </p:nvPr>
        </p:nvSpPr>
        <p:spPr>
          <a:xfrm>
            <a:off x="6170999" y="961565"/>
            <a:ext cx="5096558" cy="2467435"/>
          </a:xfrm>
        </p:spPr>
        <p:txBody>
          <a:bodyPr>
            <a:normAutofit lnSpcReduction="10000"/>
          </a:bodyPr>
          <a:lstStyle/>
          <a:p>
            <a:r>
              <a:rPr lang="en-IN" i="1" u="sng" dirty="0"/>
              <a:t>Bar Chart:</a:t>
            </a:r>
          </a:p>
          <a:p>
            <a:r>
              <a:rPr lang="en-US" b="0" i="0" dirty="0">
                <a:effectLst/>
                <a:latin typeface="__Inter_d65c78"/>
              </a:rPr>
              <a:t>In this bar chart, we can see the total sales figures for each store type.</a:t>
            </a:r>
          </a:p>
          <a:p>
            <a:pPr marL="342900" indent="-342900">
              <a:buFont typeface="Arial" panose="020B0604020202020204" pitchFamily="34" charset="0"/>
              <a:buChar char="•"/>
            </a:pPr>
            <a:r>
              <a:rPr lang="en-US" b="0" i="0" dirty="0">
                <a:effectLst/>
                <a:latin typeface="__Inter_d65c78"/>
              </a:rPr>
              <a:t>As we can see, Supermarket Type 1 significantly outperforms the other store types in terms of total sales.</a:t>
            </a:r>
            <a:endParaRPr lang="en-IN" i="1" u="sng" dirty="0"/>
          </a:p>
        </p:txBody>
      </p:sp>
      <p:pic>
        <p:nvPicPr>
          <p:cNvPr id="10" name="Content Placeholder 9">
            <a:extLst>
              <a:ext uri="{FF2B5EF4-FFF2-40B4-BE49-F238E27FC236}">
                <a16:creationId xmlns:a16="http://schemas.microsoft.com/office/drawing/2014/main" id="{B67D89B4-E22B-4FB3-A3ED-E11E1D9F067F}"/>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626942" y="3608439"/>
            <a:ext cx="3667432" cy="2979174"/>
          </a:xfrm>
        </p:spPr>
      </p:pic>
    </p:spTree>
    <p:extLst>
      <p:ext uri="{BB962C8B-B14F-4D97-AF65-F5344CB8AC3E}">
        <p14:creationId xmlns:p14="http://schemas.microsoft.com/office/powerpoint/2010/main" val="1082820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2F545-6331-4FF3-4E24-28874E731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92CE7-F0A8-558B-E267-BD918F28FD61}"/>
              </a:ext>
            </a:extLst>
          </p:cNvPr>
          <p:cNvSpPr>
            <a:spLocks noGrp="1"/>
          </p:cNvSpPr>
          <p:nvPr>
            <p:ph type="title"/>
          </p:nvPr>
        </p:nvSpPr>
        <p:spPr>
          <a:xfrm>
            <a:off x="917228" y="609600"/>
            <a:ext cx="5178772" cy="835742"/>
          </a:xfrm>
        </p:spPr>
        <p:txBody>
          <a:bodyPr>
            <a:normAutofit/>
          </a:bodyPr>
          <a:lstStyle/>
          <a:p>
            <a:r>
              <a:rPr lang="en-IN" sz="3200" b="1" i="0" u="sng" dirty="0">
                <a:effectLst/>
                <a:latin typeface="__Inter_d65c78"/>
              </a:rPr>
              <a:t> </a:t>
            </a:r>
            <a:r>
              <a:rPr lang="en-IN" sz="3200" u="sng" dirty="0" err="1">
                <a:effectLst/>
                <a:latin typeface="__Inter_d65c78"/>
              </a:rPr>
              <a:t>Excle</a:t>
            </a:r>
            <a:r>
              <a:rPr lang="en-IN" sz="3200" b="1" i="0" u="sng" dirty="0">
                <a:effectLst/>
                <a:latin typeface="__Inter_d65c78"/>
              </a:rPr>
              <a:t> Dashboard</a:t>
            </a:r>
            <a:endParaRPr lang="en-IN" sz="3200" u="sng" dirty="0"/>
          </a:p>
        </p:txBody>
      </p:sp>
      <p:pic>
        <p:nvPicPr>
          <p:cNvPr id="8" name="Content Placeholder 7">
            <a:extLst>
              <a:ext uri="{FF2B5EF4-FFF2-40B4-BE49-F238E27FC236}">
                <a16:creationId xmlns:a16="http://schemas.microsoft.com/office/drawing/2014/main" id="{52ACA099-CB8B-65A4-A9C1-B3F225D914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02338" y="609600"/>
            <a:ext cx="6189662" cy="5638799"/>
          </a:xfrm>
        </p:spPr>
      </p:pic>
      <p:sp>
        <p:nvSpPr>
          <p:cNvPr id="4" name="Text Placeholder 3">
            <a:extLst>
              <a:ext uri="{FF2B5EF4-FFF2-40B4-BE49-F238E27FC236}">
                <a16:creationId xmlns:a16="http://schemas.microsoft.com/office/drawing/2014/main" id="{B27DED6C-C637-3888-3CC8-BC5908739CF0}"/>
              </a:ext>
            </a:extLst>
          </p:cNvPr>
          <p:cNvSpPr>
            <a:spLocks noGrp="1"/>
          </p:cNvSpPr>
          <p:nvPr>
            <p:ph type="body" sz="half" idx="2"/>
          </p:nvPr>
        </p:nvSpPr>
        <p:spPr>
          <a:xfrm>
            <a:off x="917228" y="1573162"/>
            <a:ext cx="5178772" cy="4916128"/>
          </a:xfrm>
        </p:spPr>
        <p:txBody>
          <a:bodyPr/>
          <a:lstStyle/>
          <a:p>
            <a:pPr marL="285750" indent="-285750">
              <a:buFont typeface="Arial" panose="020B0604020202020204" pitchFamily="34" charset="0"/>
              <a:buChar char="•"/>
            </a:pPr>
            <a:r>
              <a:rPr lang="en-US" sz="3200" u="sng" dirty="0"/>
              <a:t>In Excel Dashboard:</a:t>
            </a:r>
          </a:p>
          <a:p>
            <a:pPr marL="285750" indent="-285750" algn="l">
              <a:buFont typeface="Arial" panose="020B0604020202020204" pitchFamily="34" charset="0"/>
              <a:buChar char="•"/>
            </a:pPr>
            <a:r>
              <a:rPr lang="en-US" dirty="0"/>
              <a:t>Bar charts showing sales by Item Fat Content and Outlet Type  </a:t>
            </a:r>
          </a:p>
          <a:p>
            <a:pPr marL="285750" indent="-285750" algn="l">
              <a:buFont typeface="Arial" panose="020B0604020202020204" pitchFamily="34" charset="0"/>
              <a:buChar char="•"/>
            </a:pPr>
            <a:r>
              <a:rPr lang="en-US" dirty="0"/>
              <a:t>Line charts for sales trends over time based on Outlet Establishment Year .</a:t>
            </a:r>
          </a:p>
          <a:p>
            <a:pPr algn="l">
              <a:buFont typeface="Arial" panose="020B0604020202020204" pitchFamily="34" charset="0"/>
              <a:buChar char="•"/>
            </a:pPr>
            <a:r>
              <a:rPr lang="en-US" sz="1800" b="0" i="0" dirty="0">
                <a:effectLst/>
                <a:latin typeface="__Inter_d65c78"/>
              </a:rPr>
              <a:t>Area chart visualizing </a:t>
            </a:r>
            <a:r>
              <a:rPr lang="en-US" sz="1800" dirty="0">
                <a:effectLst/>
                <a:latin typeface="__Inter_d65c78"/>
              </a:rPr>
              <a:t>year of Outlet Establishment.</a:t>
            </a:r>
          </a:p>
          <a:p>
            <a:pPr algn="l">
              <a:buFont typeface="Arial" panose="020B0604020202020204" pitchFamily="34" charset="0"/>
              <a:buChar char="•"/>
            </a:pPr>
            <a:r>
              <a:rPr lang="en-IN" sz="1600" dirty="0"/>
              <a:t>Dounts chart visualizing Fat content.</a:t>
            </a:r>
          </a:p>
          <a:p>
            <a:pPr algn="l">
              <a:buFont typeface="Arial" panose="020B0604020202020204" pitchFamily="34" charset="0"/>
              <a:buChar char="•"/>
            </a:pPr>
            <a:r>
              <a:rPr lang="en-IN" sz="1600" dirty="0"/>
              <a:t>Funnel chart visualizing Outlet Location.</a:t>
            </a:r>
          </a:p>
          <a:p>
            <a:pPr algn="l">
              <a:buFont typeface="Arial" panose="020B0604020202020204" pitchFamily="34" charset="0"/>
              <a:buChar char="•"/>
            </a:pPr>
            <a:r>
              <a:rPr lang="en-IN" sz="1600" dirty="0"/>
              <a:t>Bar chart Visualizing Total sales By Item types.</a:t>
            </a:r>
          </a:p>
          <a:p>
            <a:pPr algn="l"/>
            <a:endParaRPr lang="en-US" dirty="0"/>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endParaRPr lang="en-IN" dirty="0"/>
          </a:p>
        </p:txBody>
      </p:sp>
    </p:spTree>
    <p:extLst>
      <p:ext uri="{BB962C8B-B14F-4D97-AF65-F5344CB8AC3E}">
        <p14:creationId xmlns:p14="http://schemas.microsoft.com/office/powerpoint/2010/main" val="356808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1EFA8-96FF-20D7-F903-85FF118DBD6D}"/>
              </a:ext>
            </a:extLst>
          </p:cNvPr>
          <p:cNvSpPr>
            <a:spLocks noGrp="1"/>
          </p:cNvSpPr>
          <p:nvPr>
            <p:ph type="title"/>
          </p:nvPr>
        </p:nvSpPr>
        <p:spPr>
          <a:xfrm>
            <a:off x="775093" y="471801"/>
            <a:ext cx="10353761" cy="469493"/>
          </a:xfrm>
        </p:spPr>
        <p:txBody>
          <a:bodyPr>
            <a:normAutofit fontScale="90000"/>
          </a:bodyPr>
          <a:lstStyle/>
          <a:p>
            <a:r>
              <a:rPr lang="en-IN" i="1" u="sng" dirty="0"/>
              <a:t>Python data analysis</a:t>
            </a:r>
          </a:p>
        </p:txBody>
      </p:sp>
      <p:sp>
        <p:nvSpPr>
          <p:cNvPr id="3" name="Text Placeholder 2">
            <a:extLst>
              <a:ext uri="{FF2B5EF4-FFF2-40B4-BE49-F238E27FC236}">
                <a16:creationId xmlns:a16="http://schemas.microsoft.com/office/drawing/2014/main" id="{F9B0D935-A5A7-CDA3-88CE-B1E6F40F76D7}"/>
              </a:ext>
            </a:extLst>
          </p:cNvPr>
          <p:cNvSpPr>
            <a:spLocks noGrp="1"/>
          </p:cNvSpPr>
          <p:nvPr>
            <p:ph type="body" idx="1"/>
          </p:nvPr>
        </p:nvSpPr>
        <p:spPr>
          <a:xfrm>
            <a:off x="226142" y="941294"/>
            <a:ext cx="5545874" cy="1864658"/>
          </a:xfrm>
        </p:spPr>
        <p:txBody>
          <a:bodyPr>
            <a:normAutofit fontScale="47500" lnSpcReduction="20000"/>
          </a:bodyPr>
          <a:lstStyle/>
          <a:p>
            <a:pPr algn="l">
              <a:buFont typeface="Arial" panose="020B0604020202020204" pitchFamily="34" charset="0"/>
              <a:buChar char="•"/>
            </a:pPr>
            <a:r>
              <a:rPr lang="en-IN" sz="7200" i="1" u="sng" dirty="0"/>
              <a:t>Import:</a:t>
            </a:r>
          </a:p>
          <a:p>
            <a:pPr algn="l">
              <a:buFont typeface="Arial" panose="020B0604020202020204" pitchFamily="34" charset="0"/>
              <a:buChar char="•"/>
            </a:pPr>
            <a:r>
              <a:rPr lang="en-IN" sz="4200" i="1" u="sng" dirty="0"/>
              <a:t>Import The </a:t>
            </a:r>
            <a:r>
              <a:rPr lang="en-IN" sz="4200" i="1" u="sng" dirty="0" err="1"/>
              <a:t>Libreary</a:t>
            </a:r>
            <a:endParaRPr lang="en-US" sz="4200" b="0" i="0" dirty="0">
              <a:effectLst/>
              <a:latin typeface="__Inter_d65c78"/>
            </a:endParaRPr>
          </a:p>
        </p:txBody>
      </p:sp>
      <p:pic>
        <p:nvPicPr>
          <p:cNvPr id="8" name="Content Placeholder 7">
            <a:extLst>
              <a:ext uri="{FF2B5EF4-FFF2-40B4-BE49-F238E27FC236}">
                <a16:creationId xmlns:a16="http://schemas.microsoft.com/office/drawing/2014/main" id="{8FD562E8-0F8B-98D0-C510-CF6DA2AE524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9265" y="3067665"/>
            <a:ext cx="4385187" cy="3431457"/>
          </a:xfrm>
        </p:spPr>
      </p:pic>
      <p:sp>
        <p:nvSpPr>
          <p:cNvPr id="5" name="Text Placeholder 4">
            <a:extLst>
              <a:ext uri="{FF2B5EF4-FFF2-40B4-BE49-F238E27FC236}">
                <a16:creationId xmlns:a16="http://schemas.microsoft.com/office/drawing/2014/main" id="{9BF1524F-C212-0041-6B74-0DDAB3BF4E62}"/>
              </a:ext>
            </a:extLst>
          </p:cNvPr>
          <p:cNvSpPr>
            <a:spLocks noGrp="1"/>
          </p:cNvSpPr>
          <p:nvPr>
            <p:ph type="body" sz="quarter" idx="3"/>
          </p:nvPr>
        </p:nvSpPr>
        <p:spPr>
          <a:xfrm>
            <a:off x="6402003" y="1021976"/>
            <a:ext cx="4865554" cy="1783976"/>
          </a:xfrm>
        </p:spPr>
        <p:txBody>
          <a:bodyPr>
            <a:normAutofit fontScale="47500" lnSpcReduction="20000"/>
          </a:bodyPr>
          <a:lstStyle/>
          <a:p>
            <a:r>
              <a:rPr lang="en-IN" sz="8000" i="1" u="sng" dirty="0"/>
              <a:t>Read The CSV. Files: </a:t>
            </a:r>
          </a:p>
          <a:p>
            <a:r>
              <a:rPr lang="en-IN" sz="8000" b="0" dirty="0"/>
              <a:t>Data set over views</a:t>
            </a:r>
            <a:r>
              <a:rPr lang="en-IN" sz="4000" i="1" u="sng" dirty="0"/>
              <a:t>.</a:t>
            </a:r>
          </a:p>
        </p:txBody>
      </p:sp>
      <p:pic>
        <p:nvPicPr>
          <p:cNvPr id="10" name="Content Placeholder 9">
            <a:extLst>
              <a:ext uri="{FF2B5EF4-FFF2-40B4-BE49-F238E27FC236}">
                <a16:creationId xmlns:a16="http://schemas.microsoft.com/office/drawing/2014/main" id="{10EE3DBB-6AAA-7E32-CEF4-701F09998F5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96000" y="2949388"/>
            <a:ext cx="5869858" cy="3549735"/>
          </a:xfrm>
        </p:spPr>
      </p:pic>
    </p:spTree>
    <p:extLst>
      <p:ext uri="{BB962C8B-B14F-4D97-AF65-F5344CB8AC3E}">
        <p14:creationId xmlns:p14="http://schemas.microsoft.com/office/powerpoint/2010/main" val="3415541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5C0CA-A085-42FE-8929-C3B3A4013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1820B-1E8E-C89C-DD12-6BE5F49DDF73}"/>
              </a:ext>
            </a:extLst>
          </p:cNvPr>
          <p:cNvSpPr>
            <a:spLocks noGrp="1"/>
          </p:cNvSpPr>
          <p:nvPr>
            <p:ph type="title"/>
          </p:nvPr>
        </p:nvSpPr>
        <p:spPr>
          <a:xfrm>
            <a:off x="1172826" y="176013"/>
            <a:ext cx="10353761" cy="891974"/>
          </a:xfrm>
        </p:spPr>
        <p:txBody>
          <a:bodyPr/>
          <a:lstStyle/>
          <a:p>
            <a:r>
              <a:rPr lang="en-IN" i="1" u="sng" dirty="0"/>
              <a:t>Python data analysis</a:t>
            </a:r>
          </a:p>
        </p:txBody>
      </p:sp>
      <p:sp>
        <p:nvSpPr>
          <p:cNvPr id="3" name="Text Placeholder 2">
            <a:extLst>
              <a:ext uri="{FF2B5EF4-FFF2-40B4-BE49-F238E27FC236}">
                <a16:creationId xmlns:a16="http://schemas.microsoft.com/office/drawing/2014/main" id="{F4E36ABE-F231-BAD5-264B-EAFBF5D9A34E}"/>
              </a:ext>
            </a:extLst>
          </p:cNvPr>
          <p:cNvSpPr>
            <a:spLocks noGrp="1"/>
          </p:cNvSpPr>
          <p:nvPr>
            <p:ph type="body" idx="1"/>
          </p:nvPr>
        </p:nvSpPr>
        <p:spPr>
          <a:xfrm>
            <a:off x="134472" y="1067987"/>
            <a:ext cx="4865554" cy="1872437"/>
          </a:xfrm>
        </p:spPr>
        <p:txBody>
          <a:bodyPr>
            <a:noAutofit/>
          </a:bodyPr>
          <a:lstStyle/>
          <a:p>
            <a:r>
              <a:rPr lang="en-IN" i="1" u="sng" dirty="0"/>
              <a:t>Check The Null Value:</a:t>
            </a:r>
            <a:r>
              <a:rPr lang="en-US" sz="1600" dirty="0">
                <a:effectLst/>
              </a:rPr>
              <a:t>I came to know that there is no null value expect in the Item weight Filed.</a:t>
            </a:r>
          </a:p>
          <a:p>
            <a:endParaRPr lang="en-IN" sz="1600" dirty="0">
              <a:effectLst/>
            </a:endParaRPr>
          </a:p>
        </p:txBody>
      </p:sp>
      <p:sp>
        <p:nvSpPr>
          <p:cNvPr id="5" name="Text Placeholder 4">
            <a:extLst>
              <a:ext uri="{FF2B5EF4-FFF2-40B4-BE49-F238E27FC236}">
                <a16:creationId xmlns:a16="http://schemas.microsoft.com/office/drawing/2014/main" id="{8E86EFC1-2B04-F39E-AD95-B306C5D4098F}"/>
              </a:ext>
            </a:extLst>
          </p:cNvPr>
          <p:cNvSpPr>
            <a:spLocks noGrp="1"/>
          </p:cNvSpPr>
          <p:nvPr>
            <p:ph type="body" sz="quarter" idx="3"/>
          </p:nvPr>
        </p:nvSpPr>
        <p:spPr>
          <a:xfrm>
            <a:off x="6402003" y="1398494"/>
            <a:ext cx="4865554" cy="891974"/>
          </a:xfrm>
        </p:spPr>
        <p:txBody>
          <a:bodyPr>
            <a:normAutofit/>
          </a:bodyPr>
          <a:lstStyle/>
          <a:p>
            <a:r>
              <a:rPr lang="en-IN" sz="2000" i="1" u="sng" dirty="0"/>
              <a:t>Checked The Data Types</a:t>
            </a:r>
            <a:r>
              <a:rPr lang="en-IN" sz="3200" i="1" u="sng" dirty="0"/>
              <a:t>:</a:t>
            </a:r>
          </a:p>
        </p:txBody>
      </p:sp>
      <p:pic>
        <p:nvPicPr>
          <p:cNvPr id="9" name="Content Placeholder 8">
            <a:extLst>
              <a:ext uri="{FF2B5EF4-FFF2-40B4-BE49-F238E27FC236}">
                <a16:creationId xmlns:a16="http://schemas.microsoft.com/office/drawing/2014/main" id="{FCF8B10E-355C-198D-9E3B-9DF807AEB37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3367" y="2940424"/>
            <a:ext cx="4541729" cy="3137647"/>
          </a:xfrm>
        </p:spPr>
      </p:pic>
      <p:pic>
        <p:nvPicPr>
          <p:cNvPr id="17" name="Content Placeholder 16">
            <a:extLst>
              <a:ext uri="{FF2B5EF4-FFF2-40B4-BE49-F238E27FC236}">
                <a16:creationId xmlns:a16="http://schemas.microsoft.com/office/drawing/2014/main" id="{1B76827D-E11D-33BA-8B49-A2DBF2CD417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29082" y="2734030"/>
            <a:ext cx="4541729" cy="3344041"/>
          </a:xfrm>
        </p:spPr>
      </p:pic>
    </p:spTree>
    <p:extLst>
      <p:ext uri="{BB962C8B-B14F-4D97-AF65-F5344CB8AC3E}">
        <p14:creationId xmlns:p14="http://schemas.microsoft.com/office/powerpoint/2010/main" val="1727821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C43756-77C7-7D1C-E92C-58B287B00429}"/>
              </a:ext>
            </a:extLst>
          </p:cNvPr>
          <p:cNvSpPr txBox="1"/>
          <p:nvPr/>
        </p:nvSpPr>
        <p:spPr>
          <a:xfrm>
            <a:off x="353961" y="334297"/>
            <a:ext cx="11552904" cy="646331"/>
          </a:xfrm>
          <a:prstGeom prst="rect">
            <a:avLst/>
          </a:prstGeom>
          <a:noFill/>
        </p:spPr>
        <p:txBody>
          <a:bodyPr wrap="square" rtlCol="0">
            <a:spAutoFit/>
          </a:bodyPr>
          <a:lstStyle/>
          <a:p>
            <a:pPr algn="ctr"/>
            <a:r>
              <a:rPr lang="en-IN" sz="3600" i="1" u="sng" dirty="0"/>
              <a:t>Python data analysis</a:t>
            </a:r>
            <a:endParaRPr lang="en-IN" sz="3600" dirty="0"/>
          </a:p>
        </p:txBody>
      </p:sp>
      <p:sp>
        <p:nvSpPr>
          <p:cNvPr id="4" name="TextBox 3">
            <a:extLst>
              <a:ext uri="{FF2B5EF4-FFF2-40B4-BE49-F238E27FC236}">
                <a16:creationId xmlns:a16="http://schemas.microsoft.com/office/drawing/2014/main" id="{F7811B15-7FDE-6671-0102-C8F89F3C6B9E}"/>
              </a:ext>
            </a:extLst>
          </p:cNvPr>
          <p:cNvSpPr txBox="1"/>
          <p:nvPr/>
        </p:nvSpPr>
        <p:spPr>
          <a:xfrm>
            <a:off x="353961" y="1858297"/>
            <a:ext cx="4011562" cy="954107"/>
          </a:xfrm>
          <a:prstGeom prst="rect">
            <a:avLst/>
          </a:prstGeom>
          <a:noFill/>
        </p:spPr>
        <p:txBody>
          <a:bodyPr wrap="square" rtlCol="0">
            <a:spAutoFit/>
          </a:bodyPr>
          <a:lstStyle/>
          <a:p>
            <a:r>
              <a:rPr lang="en-IN" sz="2800" b="1" u="sng" dirty="0"/>
              <a:t>Check The Unique value:</a:t>
            </a:r>
          </a:p>
        </p:txBody>
      </p:sp>
      <p:pic>
        <p:nvPicPr>
          <p:cNvPr id="6" name="Picture 5">
            <a:extLst>
              <a:ext uri="{FF2B5EF4-FFF2-40B4-BE49-F238E27FC236}">
                <a16:creationId xmlns:a16="http://schemas.microsoft.com/office/drawing/2014/main" id="{CF04CC2E-99FA-DF88-0BA4-E2B3B142B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666" y="3061130"/>
            <a:ext cx="3709212" cy="802947"/>
          </a:xfrm>
          <a:prstGeom prst="rect">
            <a:avLst/>
          </a:prstGeom>
        </p:spPr>
      </p:pic>
      <p:sp>
        <p:nvSpPr>
          <p:cNvPr id="7" name="TextBox 6">
            <a:extLst>
              <a:ext uri="{FF2B5EF4-FFF2-40B4-BE49-F238E27FC236}">
                <a16:creationId xmlns:a16="http://schemas.microsoft.com/office/drawing/2014/main" id="{AFDAD258-3BE3-424F-E122-D91AB9D3A6BE}"/>
              </a:ext>
            </a:extLst>
          </p:cNvPr>
          <p:cNvSpPr txBox="1"/>
          <p:nvPr/>
        </p:nvSpPr>
        <p:spPr>
          <a:xfrm>
            <a:off x="459666" y="4247535"/>
            <a:ext cx="4653108" cy="954107"/>
          </a:xfrm>
          <a:prstGeom prst="rect">
            <a:avLst/>
          </a:prstGeom>
          <a:noFill/>
        </p:spPr>
        <p:txBody>
          <a:bodyPr wrap="square" rtlCol="0">
            <a:spAutoFit/>
          </a:bodyPr>
          <a:lstStyle/>
          <a:p>
            <a:r>
              <a:rPr lang="en-IN" sz="2800" b="1" dirty="0"/>
              <a:t>Check The </a:t>
            </a:r>
            <a:r>
              <a:rPr lang="en-IN" sz="2800" b="1" dirty="0" err="1"/>
              <a:t>Statiscal</a:t>
            </a:r>
            <a:r>
              <a:rPr lang="en-IN" sz="2800" b="1" dirty="0"/>
              <a:t>  value</a:t>
            </a:r>
          </a:p>
        </p:txBody>
      </p:sp>
      <p:pic>
        <p:nvPicPr>
          <p:cNvPr id="9" name="Picture 8">
            <a:extLst>
              <a:ext uri="{FF2B5EF4-FFF2-40B4-BE49-F238E27FC236}">
                <a16:creationId xmlns:a16="http://schemas.microsoft.com/office/drawing/2014/main" id="{B2DAE288-BBFE-E587-0BE1-B1ADFB0B5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313" y="5296750"/>
            <a:ext cx="2587829" cy="710760"/>
          </a:xfrm>
          <a:prstGeom prst="rect">
            <a:avLst/>
          </a:prstGeom>
        </p:spPr>
      </p:pic>
      <p:sp>
        <p:nvSpPr>
          <p:cNvPr id="10" name="TextBox 9">
            <a:extLst>
              <a:ext uri="{FF2B5EF4-FFF2-40B4-BE49-F238E27FC236}">
                <a16:creationId xmlns:a16="http://schemas.microsoft.com/office/drawing/2014/main" id="{A617A3D7-41D6-12D5-33F9-0A8E748D7BBC}"/>
              </a:ext>
            </a:extLst>
          </p:cNvPr>
          <p:cNvSpPr txBox="1"/>
          <p:nvPr/>
        </p:nvSpPr>
        <p:spPr>
          <a:xfrm>
            <a:off x="5722374" y="1966452"/>
            <a:ext cx="4345858" cy="461665"/>
          </a:xfrm>
          <a:prstGeom prst="rect">
            <a:avLst/>
          </a:prstGeom>
          <a:noFill/>
        </p:spPr>
        <p:txBody>
          <a:bodyPr wrap="square" rtlCol="0">
            <a:spAutoFit/>
          </a:bodyPr>
          <a:lstStyle/>
          <a:p>
            <a:r>
              <a:rPr lang="en-IN" sz="2400" b="1" u="sng" dirty="0"/>
              <a:t>Change The null Value</a:t>
            </a:r>
          </a:p>
        </p:txBody>
      </p:sp>
      <p:pic>
        <p:nvPicPr>
          <p:cNvPr id="12" name="Picture 11">
            <a:extLst>
              <a:ext uri="{FF2B5EF4-FFF2-40B4-BE49-F238E27FC236}">
                <a16:creationId xmlns:a16="http://schemas.microsoft.com/office/drawing/2014/main" id="{3EFB0EF0-2470-83A3-B81C-F850E40BF0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8348" y="2505886"/>
            <a:ext cx="3628104" cy="954106"/>
          </a:xfrm>
          <a:prstGeom prst="rect">
            <a:avLst/>
          </a:prstGeom>
        </p:spPr>
      </p:pic>
    </p:spTree>
    <p:extLst>
      <p:ext uri="{BB962C8B-B14F-4D97-AF65-F5344CB8AC3E}">
        <p14:creationId xmlns:p14="http://schemas.microsoft.com/office/powerpoint/2010/main" val="99358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7D73-0959-6DB6-5FCC-69750D942E5D}"/>
              </a:ext>
            </a:extLst>
          </p:cNvPr>
          <p:cNvSpPr>
            <a:spLocks noGrp="1"/>
          </p:cNvSpPr>
          <p:nvPr>
            <p:ph type="title"/>
          </p:nvPr>
        </p:nvSpPr>
        <p:spPr>
          <a:xfrm>
            <a:off x="913795" y="0"/>
            <a:ext cx="10353761" cy="727587"/>
          </a:xfrm>
        </p:spPr>
        <p:txBody>
          <a:bodyPr/>
          <a:lstStyle/>
          <a:p>
            <a:r>
              <a:rPr lang="en-IN" dirty="0"/>
              <a:t>Python –Data Visualization</a:t>
            </a:r>
          </a:p>
        </p:txBody>
      </p:sp>
      <p:sp>
        <p:nvSpPr>
          <p:cNvPr id="3" name="Text Placeholder 2">
            <a:extLst>
              <a:ext uri="{FF2B5EF4-FFF2-40B4-BE49-F238E27FC236}">
                <a16:creationId xmlns:a16="http://schemas.microsoft.com/office/drawing/2014/main" id="{0D3FB5C2-6E31-5E3D-7241-7C1B21B35B6E}"/>
              </a:ext>
            </a:extLst>
          </p:cNvPr>
          <p:cNvSpPr>
            <a:spLocks noGrp="1"/>
          </p:cNvSpPr>
          <p:nvPr>
            <p:ph type="body" idx="1"/>
          </p:nvPr>
        </p:nvSpPr>
        <p:spPr>
          <a:xfrm>
            <a:off x="403123" y="727587"/>
            <a:ext cx="5616677" cy="2701413"/>
          </a:xfrm>
        </p:spPr>
        <p:txBody>
          <a:bodyPr>
            <a:normAutofit fontScale="85000" lnSpcReduction="20000"/>
          </a:bodyPr>
          <a:lstStyle/>
          <a:p>
            <a:r>
              <a:rPr lang="en-IN" i="1" u="sng" dirty="0" err="1"/>
              <a:t>DistPlot</a:t>
            </a:r>
            <a:r>
              <a:rPr lang="en-IN" i="1" u="sng" dirty="0"/>
              <a:t>:</a:t>
            </a:r>
          </a:p>
          <a:p>
            <a:pPr algn="l">
              <a:buFont typeface="Arial" panose="020B0604020202020204" pitchFamily="34" charset="0"/>
              <a:buChar char="•"/>
            </a:pPr>
            <a:r>
              <a:rPr lang="en-US" b="0" i="0" dirty="0">
                <a:solidFill>
                  <a:srgbClr val="374151"/>
                </a:solidFill>
                <a:effectLst/>
                <a:latin typeface="__Inter_d65c78"/>
              </a:rPr>
              <a:t> </a:t>
            </a:r>
            <a:r>
              <a:rPr lang="en-US" sz="1800" b="0" i="0" dirty="0">
                <a:effectLst/>
                <a:latin typeface="__Inter_d65c78"/>
              </a:rPr>
              <a:t>Household sales distribution:</a:t>
            </a:r>
          </a:p>
          <a:p>
            <a:pPr marL="742950" lvl="1" indent="-285750" algn="l">
              <a:buFont typeface="Arial" panose="020B0604020202020204" pitchFamily="34" charset="0"/>
              <a:buChar char="•"/>
            </a:pPr>
            <a:r>
              <a:rPr lang="en-US" sz="1800" b="0" i="0" dirty="0">
                <a:effectLst/>
                <a:latin typeface="__Inter_d65c78"/>
              </a:rPr>
              <a:t>"We can observe where sales tend to cluster, showing the most common sales values for Household items."</a:t>
            </a:r>
          </a:p>
          <a:p>
            <a:pPr algn="l">
              <a:buFont typeface="Arial" panose="020B0604020202020204" pitchFamily="34" charset="0"/>
              <a:buChar char="•"/>
            </a:pPr>
            <a:r>
              <a:rPr lang="en-US" sz="1800" b="0" i="0" dirty="0">
                <a:effectLst/>
                <a:latin typeface="__Inter_d65c78"/>
              </a:rPr>
              <a:t>For Dairy sales:</a:t>
            </a:r>
          </a:p>
          <a:p>
            <a:pPr marL="742950" lvl="1" indent="-285750" algn="l">
              <a:buFont typeface="Arial" panose="020B0604020202020204" pitchFamily="34" charset="0"/>
              <a:buChar char="•"/>
            </a:pPr>
            <a:r>
              <a:rPr lang="en-US" sz="1800" b="0" i="0" dirty="0">
                <a:effectLst/>
                <a:latin typeface="__Inter_d65c78"/>
              </a:rPr>
              <a:t>"The distribution may be slightly different, showing how Dairy product sales vary compared to Household items."</a:t>
            </a:r>
          </a:p>
          <a:p>
            <a:pPr algn="l">
              <a:buFont typeface="Arial" panose="020B0604020202020204" pitchFamily="34" charset="0"/>
              <a:buChar char="•"/>
            </a:pPr>
            <a:r>
              <a:rPr lang="en-US" sz="1800" b="0" i="0" dirty="0">
                <a:effectLst/>
                <a:latin typeface="__Inter_d65c78"/>
              </a:rPr>
              <a:t>By comparing the two distributions on the same chart, we can easily see differences in sales patterns between these categories.</a:t>
            </a:r>
          </a:p>
        </p:txBody>
      </p:sp>
      <p:pic>
        <p:nvPicPr>
          <p:cNvPr id="8" name="Content Placeholder 7">
            <a:extLst>
              <a:ext uri="{FF2B5EF4-FFF2-40B4-BE49-F238E27FC236}">
                <a16:creationId xmlns:a16="http://schemas.microsoft.com/office/drawing/2014/main" id="{5A9F5BB6-FDA5-4DC9-24FF-73036D2D10F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03123" y="3806825"/>
            <a:ext cx="5171767" cy="2979174"/>
          </a:xfrm>
        </p:spPr>
      </p:pic>
      <p:sp>
        <p:nvSpPr>
          <p:cNvPr id="5" name="Text Placeholder 4">
            <a:extLst>
              <a:ext uri="{FF2B5EF4-FFF2-40B4-BE49-F238E27FC236}">
                <a16:creationId xmlns:a16="http://schemas.microsoft.com/office/drawing/2014/main" id="{B97580B3-2B79-7D95-0B02-9F8553918628}"/>
              </a:ext>
            </a:extLst>
          </p:cNvPr>
          <p:cNvSpPr>
            <a:spLocks noGrp="1"/>
          </p:cNvSpPr>
          <p:nvPr>
            <p:ph type="body" sz="quarter" idx="3"/>
          </p:nvPr>
        </p:nvSpPr>
        <p:spPr>
          <a:xfrm>
            <a:off x="6172200" y="727587"/>
            <a:ext cx="5862484" cy="2957628"/>
          </a:xfrm>
        </p:spPr>
        <p:txBody>
          <a:bodyPr>
            <a:normAutofit fontScale="85000" lnSpcReduction="20000"/>
          </a:bodyPr>
          <a:lstStyle/>
          <a:p>
            <a:r>
              <a:rPr lang="en-IN" i="1" u="sng" dirty="0" err="1"/>
              <a:t>Displot</a:t>
            </a:r>
            <a:r>
              <a:rPr lang="en-IN" i="1" u="sng" dirty="0"/>
              <a:t>:</a:t>
            </a:r>
          </a:p>
          <a:p>
            <a:pPr algn="l">
              <a:buFont typeface="Arial" panose="020B0604020202020204" pitchFamily="34" charset="0"/>
              <a:buChar char="•"/>
            </a:pPr>
            <a:r>
              <a:rPr lang="en-US" b="0" i="0" dirty="0">
                <a:effectLst/>
                <a:latin typeface="__Inter_d65c78"/>
              </a:rPr>
              <a:t>In this distribution plot, we are looking at the sales figures represented on the x-axis.</a:t>
            </a:r>
          </a:p>
          <a:p>
            <a:pPr algn="l">
              <a:buFont typeface="Arial" panose="020B0604020202020204" pitchFamily="34" charset="0"/>
              <a:buChar char="•"/>
            </a:pPr>
            <a:r>
              <a:rPr lang="en-US" b="0" i="0" dirty="0">
                <a:effectLst/>
                <a:latin typeface="__Inter_d65c78"/>
              </a:rPr>
              <a:t>The y-axis shows the density, which indicates how frequently sales amounts occur within certain ranges.</a:t>
            </a:r>
          </a:p>
          <a:p>
            <a:pPr algn="l">
              <a:buFont typeface="Arial" panose="020B0604020202020204" pitchFamily="34" charset="0"/>
              <a:buChar char="•"/>
            </a:pPr>
            <a:r>
              <a:rPr lang="en-US" b="0" i="0" dirty="0">
                <a:effectLst/>
                <a:latin typeface="__Inter_d65c78"/>
              </a:rPr>
              <a:t>The plot provides a visual representation of the distribution of sales data</a:t>
            </a:r>
          </a:p>
          <a:p>
            <a:endParaRPr lang="en-IN" i="1" u="sng" dirty="0"/>
          </a:p>
        </p:txBody>
      </p:sp>
      <p:pic>
        <p:nvPicPr>
          <p:cNvPr id="10" name="Content Placeholder 9">
            <a:extLst>
              <a:ext uri="{FF2B5EF4-FFF2-40B4-BE49-F238E27FC236}">
                <a16:creationId xmlns:a16="http://schemas.microsoft.com/office/drawing/2014/main" id="{ED269023-8466-5B22-4004-26A71C6D90E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019800" y="3806825"/>
            <a:ext cx="5616677" cy="2879725"/>
          </a:xfrm>
        </p:spPr>
      </p:pic>
    </p:spTree>
    <p:extLst>
      <p:ext uri="{BB962C8B-B14F-4D97-AF65-F5344CB8AC3E}">
        <p14:creationId xmlns:p14="http://schemas.microsoft.com/office/powerpoint/2010/main" val="677535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E432-2CFC-7C30-6F70-5C011E883E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5E1C5-F048-B117-3DDF-2ACC1B53A35C}"/>
              </a:ext>
            </a:extLst>
          </p:cNvPr>
          <p:cNvSpPr>
            <a:spLocks noGrp="1"/>
          </p:cNvSpPr>
          <p:nvPr>
            <p:ph type="title"/>
          </p:nvPr>
        </p:nvSpPr>
        <p:spPr>
          <a:xfrm>
            <a:off x="913795" y="0"/>
            <a:ext cx="10353761" cy="727587"/>
          </a:xfrm>
        </p:spPr>
        <p:txBody>
          <a:bodyPr/>
          <a:lstStyle/>
          <a:p>
            <a:r>
              <a:rPr lang="en-IN" dirty="0"/>
              <a:t>Python –Data Visualization</a:t>
            </a:r>
          </a:p>
        </p:txBody>
      </p:sp>
      <p:sp>
        <p:nvSpPr>
          <p:cNvPr id="3" name="Text Placeholder 2">
            <a:extLst>
              <a:ext uri="{FF2B5EF4-FFF2-40B4-BE49-F238E27FC236}">
                <a16:creationId xmlns:a16="http://schemas.microsoft.com/office/drawing/2014/main" id="{021B8978-6021-E7E4-17B8-F07DEC9FC4FA}"/>
              </a:ext>
            </a:extLst>
          </p:cNvPr>
          <p:cNvSpPr>
            <a:spLocks noGrp="1"/>
          </p:cNvSpPr>
          <p:nvPr>
            <p:ph type="body" idx="1"/>
          </p:nvPr>
        </p:nvSpPr>
        <p:spPr>
          <a:xfrm>
            <a:off x="403123" y="727587"/>
            <a:ext cx="5616677" cy="2979174"/>
          </a:xfrm>
        </p:spPr>
        <p:txBody>
          <a:bodyPr>
            <a:normAutofit fontScale="92500"/>
          </a:bodyPr>
          <a:lstStyle/>
          <a:p>
            <a:pPr algn="l">
              <a:buFont typeface="Arial" panose="020B0604020202020204" pitchFamily="34" charset="0"/>
              <a:buChar char="•"/>
            </a:pPr>
            <a:r>
              <a:rPr lang="en-IN" sz="2600" i="1" u="sng" dirty="0" err="1"/>
              <a:t>Poin</a:t>
            </a:r>
            <a:r>
              <a:rPr lang="en-IN" i="1" u="sng" dirty="0" err="1"/>
              <a:t>tPlot</a:t>
            </a:r>
            <a:r>
              <a:rPr lang="en-IN" i="1" u="sng" dirty="0"/>
              <a:t>:</a:t>
            </a:r>
            <a:r>
              <a:rPr lang="en-US" b="0" i="0" dirty="0">
                <a:solidFill>
                  <a:srgbClr val="374151"/>
                </a:solidFill>
                <a:effectLst/>
                <a:latin typeface="__Inter_d65c78"/>
              </a:rPr>
              <a:t> </a:t>
            </a:r>
            <a:r>
              <a:rPr lang="en-US" b="0" i="0" dirty="0">
                <a:effectLst/>
                <a:latin typeface="__Inter_d65c78"/>
              </a:rPr>
              <a:t>In this point plot, the x-axis represents the different outlet sizes, while the y-axis shows the corresponding sales figures."</a:t>
            </a:r>
          </a:p>
          <a:p>
            <a:pPr algn="l">
              <a:buFont typeface="Arial" panose="020B0604020202020204" pitchFamily="34" charset="0"/>
              <a:buChar char="•"/>
            </a:pPr>
            <a:r>
              <a:rPr lang="en-US" b="0" i="0" dirty="0">
                <a:effectLst/>
                <a:latin typeface="__Inter_d65c78"/>
              </a:rPr>
              <a:t>Each point on the plot represents the average sales for each outlet size category.</a:t>
            </a:r>
          </a:p>
          <a:p>
            <a:pPr algn="l">
              <a:buFont typeface="Arial" panose="020B0604020202020204" pitchFamily="34" charset="0"/>
              <a:buChar char="•"/>
            </a:pPr>
            <a:r>
              <a:rPr lang="en-US" b="0" i="0" dirty="0">
                <a:effectLst/>
                <a:latin typeface="__Inter_d65c78"/>
              </a:rPr>
              <a:t>we can observe how sales performance differs by outlet size.</a:t>
            </a:r>
          </a:p>
          <a:p>
            <a:endParaRPr lang="en-IN" i="1" u="sng" dirty="0"/>
          </a:p>
        </p:txBody>
      </p:sp>
      <p:sp>
        <p:nvSpPr>
          <p:cNvPr id="5" name="Text Placeholder 4">
            <a:extLst>
              <a:ext uri="{FF2B5EF4-FFF2-40B4-BE49-F238E27FC236}">
                <a16:creationId xmlns:a16="http://schemas.microsoft.com/office/drawing/2014/main" id="{6502BFAC-E563-20F7-3FF5-B19F71093BBC}"/>
              </a:ext>
            </a:extLst>
          </p:cNvPr>
          <p:cNvSpPr>
            <a:spLocks noGrp="1"/>
          </p:cNvSpPr>
          <p:nvPr>
            <p:ph type="body" sz="quarter" idx="3"/>
          </p:nvPr>
        </p:nvSpPr>
        <p:spPr>
          <a:xfrm>
            <a:off x="6172200" y="727587"/>
            <a:ext cx="5862484" cy="2957628"/>
          </a:xfrm>
        </p:spPr>
        <p:txBody>
          <a:bodyPr>
            <a:normAutofit fontScale="92500"/>
          </a:bodyPr>
          <a:lstStyle/>
          <a:p>
            <a:r>
              <a:rPr lang="en-IN" i="1" u="sng" dirty="0"/>
              <a:t>Pie chart:</a:t>
            </a:r>
          </a:p>
          <a:p>
            <a:r>
              <a:rPr lang="en-US" b="0" i="0" dirty="0">
                <a:effectLst/>
                <a:latin typeface="__Inter_d65c78"/>
              </a:rPr>
              <a:t>This pie chart shows the distribution of total sales across different outlet sizes. Each colored slice represents an outlet size category like Small, Medium, or Large. The numbers on the chart show the percentage share of total sales that each outlet size contributes.</a:t>
            </a:r>
          </a:p>
          <a:p>
            <a:endParaRPr lang="en-IN" i="1" u="sng" dirty="0"/>
          </a:p>
        </p:txBody>
      </p:sp>
      <p:pic>
        <p:nvPicPr>
          <p:cNvPr id="9" name="Content Placeholder 8">
            <a:extLst>
              <a:ext uri="{FF2B5EF4-FFF2-40B4-BE49-F238E27FC236}">
                <a16:creationId xmlns:a16="http://schemas.microsoft.com/office/drawing/2014/main" id="{64BAED25-DFF3-3635-3568-06C4CF24572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81781" y="3806825"/>
            <a:ext cx="5139076" cy="2800451"/>
          </a:xfrm>
        </p:spPr>
      </p:pic>
      <p:pic>
        <p:nvPicPr>
          <p:cNvPr id="14" name="Content Placeholder 13">
            <a:extLst>
              <a:ext uri="{FF2B5EF4-FFF2-40B4-BE49-F238E27FC236}">
                <a16:creationId xmlns:a16="http://schemas.microsoft.com/office/drawing/2014/main" id="{E710C887-8C09-C5F1-743C-4A3CFA92100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744929" y="3649648"/>
            <a:ext cx="4758813" cy="2957628"/>
          </a:xfrm>
        </p:spPr>
      </p:pic>
    </p:spTree>
    <p:extLst>
      <p:ext uri="{BB962C8B-B14F-4D97-AF65-F5344CB8AC3E}">
        <p14:creationId xmlns:p14="http://schemas.microsoft.com/office/powerpoint/2010/main" val="1944912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E615B-91B4-0A32-70AF-350DA7E32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4CCD0-9FA2-D159-DD4C-89E29C905953}"/>
              </a:ext>
            </a:extLst>
          </p:cNvPr>
          <p:cNvSpPr>
            <a:spLocks noGrp="1"/>
          </p:cNvSpPr>
          <p:nvPr>
            <p:ph type="title"/>
          </p:nvPr>
        </p:nvSpPr>
        <p:spPr>
          <a:xfrm>
            <a:off x="913795" y="0"/>
            <a:ext cx="10353761" cy="727587"/>
          </a:xfrm>
        </p:spPr>
        <p:txBody>
          <a:bodyPr/>
          <a:lstStyle/>
          <a:p>
            <a:r>
              <a:rPr lang="en-IN" dirty="0"/>
              <a:t>Python –Data Visualization</a:t>
            </a:r>
          </a:p>
        </p:txBody>
      </p:sp>
      <p:sp>
        <p:nvSpPr>
          <p:cNvPr id="5" name="Text Placeholder 4">
            <a:extLst>
              <a:ext uri="{FF2B5EF4-FFF2-40B4-BE49-F238E27FC236}">
                <a16:creationId xmlns:a16="http://schemas.microsoft.com/office/drawing/2014/main" id="{B2A3F35A-091E-B5DD-ED98-A10E2CD44A66}"/>
              </a:ext>
            </a:extLst>
          </p:cNvPr>
          <p:cNvSpPr>
            <a:spLocks noGrp="1"/>
          </p:cNvSpPr>
          <p:nvPr>
            <p:ph type="body" sz="quarter" idx="3"/>
          </p:nvPr>
        </p:nvSpPr>
        <p:spPr>
          <a:xfrm>
            <a:off x="6172200" y="727587"/>
            <a:ext cx="5862484" cy="2957628"/>
          </a:xfrm>
        </p:spPr>
        <p:txBody>
          <a:bodyPr>
            <a:normAutofit fontScale="77500" lnSpcReduction="20000"/>
          </a:bodyPr>
          <a:lstStyle/>
          <a:p>
            <a:r>
              <a:rPr lang="en-IN" sz="3100" i="1" u="sng" dirty="0" err="1"/>
              <a:t>Displot</a:t>
            </a:r>
            <a:r>
              <a:rPr lang="en-IN" sz="3100" i="1" u="sng" dirty="0"/>
              <a:t>:</a:t>
            </a:r>
          </a:p>
          <a:p>
            <a:r>
              <a:rPr lang="en-US" b="0" i="0" dirty="0">
                <a:effectLst/>
                <a:latin typeface="__Inter_d65c78"/>
              </a:rPr>
              <a:t>This visualization consists of two distribution plots showing the sales data for 'Household' and 'Dairy' item types. Each plot illustrates how sales values are distributed, with the x-axis representing sales amounts and the y-axis showing the density of those sales. The legend helps us identify which distribution corresponds to which item type. By analyzing these distributions, we can gain insights into the sales performance of these categories, such as identifying trends, variability, and potential areas for improvement in our sales strategy</a:t>
            </a:r>
            <a:r>
              <a:rPr lang="en-US" b="0" i="0" dirty="0">
                <a:solidFill>
                  <a:srgbClr val="374151"/>
                </a:solidFill>
                <a:effectLst/>
                <a:latin typeface="__Inter_d65c78"/>
              </a:rPr>
              <a:t>.</a:t>
            </a:r>
            <a:endParaRPr lang="en-IN" i="1" u="sng" dirty="0"/>
          </a:p>
        </p:txBody>
      </p:sp>
      <p:sp>
        <p:nvSpPr>
          <p:cNvPr id="8" name="Text Placeholder 7">
            <a:extLst>
              <a:ext uri="{FF2B5EF4-FFF2-40B4-BE49-F238E27FC236}">
                <a16:creationId xmlns:a16="http://schemas.microsoft.com/office/drawing/2014/main" id="{D3B9D6F3-CCE8-15FE-902A-DD7AB47FAC75}"/>
              </a:ext>
            </a:extLst>
          </p:cNvPr>
          <p:cNvSpPr>
            <a:spLocks noGrp="1"/>
          </p:cNvSpPr>
          <p:nvPr>
            <p:ph type="body" idx="1"/>
          </p:nvPr>
        </p:nvSpPr>
        <p:spPr>
          <a:xfrm>
            <a:off x="492875" y="727588"/>
            <a:ext cx="4879199" cy="2957628"/>
          </a:xfrm>
        </p:spPr>
        <p:txBody>
          <a:bodyPr>
            <a:normAutofit fontScale="77500" lnSpcReduction="20000"/>
          </a:bodyPr>
          <a:lstStyle/>
          <a:p>
            <a:r>
              <a:rPr lang="en-IN" sz="3400" i="1" u="sng" dirty="0"/>
              <a:t>Box Plot</a:t>
            </a:r>
            <a:r>
              <a:rPr lang="en-IN" i="1" u="sng" dirty="0"/>
              <a:t>:  </a:t>
            </a:r>
            <a:r>
              <a:rPr lang="en-US" sz="2300" b="0" i="0" dirty="0">
                <a:effectLst/>
                <a:latin typeface="__Inter_d65c78"/>
              </a:rPr>
              <a:t>This boxplot illustrates the sales distribution for the top 10 item types in our dataset. Each box represents the range of sales for a specific item type, with the median sales value indicated by a line inside the box. The whiskers show the overall range of sales, while any points outside the whiskers are outliers. This visualization helps us understand how sales vary among the most popular item types, allowing us to identify trends and potential areas for improvement in our sales strategy</a:t>
            </a:r>
            <a:endParaRPr lang="en-IN" sz="2300" i="1" u="sng" dirty="0"/>
          </a:p>
          <a:p>
            <a:endParaRPr lang="en-IN" i="1" u="sng" dirty="0"/>
          </a:p>
        </p:txBody>
      </p:sp>
      <p:pic>
        <p:nvPicPr>
          <p:cNvPr id="15" name="Content Placeholder 14">
            <a:extLst>
              <a:ext uri="{FF2B5EF4-FFF2-40B4-BE49-F238E27FC236}">
                <a16:creationId xmlns:a16="http://schemas.microsoft.com/office/drawing/2014/main" id="{A0E5CFEF-405E-DC7D-97B6-D74051E8628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09717" y="3775176"/>
            <a:ext cx="5062357" cy="2957627"/>
          </a:xfrm>
        </p:spPr>
      </p:pic>
      <p:pic>
        <p:nvPicPr>
          <p:cNvPr id="19" name="Content Placeholder 18">
            <a:extLst>
              <a:ext uri="{FF2B5EF4-FFF2-40B4-BE49-F238E27FC236}">
                <a16:creationId xmlns:a16="http://schemas.microsoft.com/office/drawing/2014/main" id="{062EBFEE-0FAC-887B-8155-786A1172B10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199" y="3775075"/>
            <a:ext cx="2902975" cy="2957626"/>
          </a:xfrm>
        </p:spPr>
      </p:pic>
      <p:pic>
        <p:nvPicPr>
          <p:cNvPr id="21" name="Picture 20">
            <a:extLst>
              <a:ext uri="{FF2B5EF4-FFF2-40B4-BE49-F238E27FC236}">
                <a16:creationId xmlns:a16="http://schemas.microsoft.com/office/drawing/2014/main" id="{9E4E4001-DDB2-E2D5-C788-E1A23CF841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414" y="3775071"/>
            <a:ext cx="2800269" cy="2957629"/>
          </a:xfrm>
          <a:prstGeom prst="rect">
            <a:avLst/>
          </a:prstGeom>
        </p:spPr>
      </p:pic>
      <p:cxnSp>
        <p:nvCxnSpPr>
          <p:cNvPr id="4" name="Straight Connector 3">
            <a:extLst>
              <a:ext uri="{FF2B5EF4-FFF2-40B4-BE49-F238E27FC236}">
                <a16:creationId xmlns:a16="http://schemas.microsoft.com/office/drawing/2014/main" id="{67C4694A-18C2-1656-D34D-426F19C5D667}"/>
              </a:ext>
            </a:extLst>
          </p:cNvPr>
          <p:cNvCxnSpPr>
            <a:cxnSpLocks/>
          </p:cNvCxnSpPr>
          <p:nvPr/>
        </p:nvCxnSpPr>
        <p:spPr>
          <a:xfrm>
            <a:off x="5663381" y="845574"/>
            <a:ext cx="117987" cy="6012426"/>
          </a:xfrm>
          <a:prstGeom prst="line">
            <a:avLst/>
          </a:prstGeom>
          <a:ln w="9525" cap="flat" cmpd="sng" algn="ctr">
            <a:solidFill>
              <a:schemeClr val="tx1">
                <a:lumMod val="9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351668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E0E1-1B00-1C2F-634D-549E92F29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AB73E-C698-BFF8-0874-CC86F11126D1}"/>
              </a:ext>
            </a:extLst>
          </p:cNvPr>
          <p:cNvSpPr>
            <a:spLocks noGrp="1"/>
          </p:cNvSpPr>
          <p:nvPr>
            <p:ph type="title"/>
          </p:nvPr>
        </p:nvSpPr>
        <p:spPr>
          <a:xfrm>
            <a:off x="913795" y="0"/>
            <a:ext cx="10353761" cy="727587"/>
          </a:xfrm>
        </p:spPr>
        <p:txBody>
          <a:bodyPr/>
          <a:lstStyle/>
          <a:p>
            <a:r>
              <a:rPr lang="en-IN" dirty="0"/>
              <a:t>Python –Data Visualization</a:t>
            </a:r>
          </a:p>
        </p:txBody>
      </p:sp>
      <p:sp>
        <p:nvSpPr>
          <p:cNvPr id="5" name="Text Placeholder 4">
            <a:extLst>
              <a:ext uri="{FF2B5EF4-FFF2-40B4-BE49-F238E27FC236}">
                <a16:creationId xmlns:a16="http://schemas.microsoft.com/office/drawing/2014/main" id="{63DB4597-460D-39A7-23F9-54592C55B90F}"/>
              </a:ext>
            </a:extLst>
          </p:cNvPr>
          <p:cNvSpPr>
            <a:spLocks noGrp="1"/>
          </p:cNvSpPr>
          <p:nvPr>
            <p:ph type="body" sz="quarter" idx="3"/>
          </p:nvPr>
        </p:nvSpPr>
        <p:spPr>
          <a:xfrm>
            <a:off x="4208206" y="727587"/>
            <a:ext cx="4211866" cy="2054942"/>
          </a:xfrm>
        </p:spPr>
        <p:txBody>
          <a:bodyPr>
            <a:normAutofit fontScale="77500" lnSpcReduction="20000"/>
          </a:bodyPr>
          <a:lstStyle/>
          <a:p>
            <a:r>
              <a:rPr lang="en-IN" sz="3100" i="1" u="sng" dirty="0"/>
              <a:t>Bar plot:</a:t>
            </a:r>
            <a:r>
              <a:rPr lang="en-US" sz="2400" b="0" i="0" dirty="0">
                <a:solidFill>
                  <a:srgbClr val="374151"/>
                </a:solidFill>
                <a:effectLst/>
                <a:latin typeface="__Inter_d65c78"/>
              </a:rPr>
              <a:t> </a:t>
            </a:r>
            <a:r>
              <a:rPr lang="en-US" sz="2400" b="0" i="0" dirty="0">
                <a:effectLst/>
                <a:latin typeface="__Inter_d65c78"/>
              </a:rPr>
              <a:t>we can observe how sales differ between 'Regular' and 'Low Fat' items across various outlet location types. [Point out specific trends or insights, such as which outlet type has the highest sales for each fat content category.</a:t>
            </a:r>
            <a:endParaRPr lang="en-IN" sz="3100" i="1" u="sng" dirty="0"/>
          </a:p>
        </p:txBody>
      </p:sp>
      <p:sp>
        <p:nvSpPr>
          <p:cNvPr id="8" name="Text Placeholder 7">
            <a:extLst>
              <a:ext uri="{FF2B5EF4-FFF2-40B4-BE49-F238E27FC236}">
                <a16:creationId xmlns:a16="http://schemas.microsoft.com/office/drawing/2014/main" id="{DAE50022-3D95-07AD-E7F8-9A6BD428C7AD}"/>
              </a:ext>
            </a:extLst>
          </p:cNvPr>
          <p:cNvSpPr>
            <a:spLocks noGrp="1"/>
          </p:cNvSpPr>
          <p:nvPr>
            <p:ph type="body" idx="1"/>
          </p:nvPr>
        </p:nvSpPr>
        <p:spPr>
          <a:xfrm>
            <a:off x="94663" y="727587"/>
            <a:ext cx="4211866" cy="1620441"/>
          </a:xfrm>
        </p:spPr>
        <p:txBody>
          <a:bodyPr>
            <a:normAutofit fontScale="77500" lnSpcReduction="20000"/>
          </a:bodyPr>
          <a:lstStyle/>
          <a:p>
            <a:r>
              <a:rPr lang="en-IN" sz="3400" i="1" u="sng" dirty="0"/>
              <a:t>Pie Plot</a:t>
            </a:r>
            <a:r>
              <a:rPr lang="en-IN" i="1" u="sng" dirty="0"/>
              <a:t>:</a:t>
            </a:r>
            <a:r>
              <a:rPr lang="en-US" b="0" i="0" dirty="0">
                <a:solidFill>
                  <a:srgbClr val="374151"/>
                </a:solidFill>
                <a:effectLst/>
                <a:latin typeface="__Inter_d65c78"/>
              </a:rPr>
              <a:t> </a:t>
            </a:r>
            <a:r>
              <a:rPr lang="en-US" b="0" i="0" dirty="0">
                <a:effectLst/>
                <a:latin typeface="__Inter_d65c78"/>
              </a:rPr>
              <a:t>we can see how sales are distributed among the different fat content categories. For instance, we can identify which category has the highest sales and any surprising trends.</a:t>
            </a:r>
            <a:endParaRPr lang="en-IN" i="1" u="sng" dirty="0"/>
          </a:p>
        </p:txBody>
      </p:sp>
      <p:pic>
        <p:nvPicPr>
          <p:cNvPr id="9" name="Content Placeholder 8">
            <a:extLst>
              <a:ext uri="{FF2B5EF4-FFF2-40B4-BE49-F238E27FC236}">
                <a16:creationId xmlns:a16="http://schemas.microsoft.com/office/drawing/2014/main" id="{3678F4F2-0E81-7FF9-C96A-360B2C87659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6159" y="3251676"/>
            <a:ext cx="3759582" cy="3566714"/>
          </a:xfrm>
        </p:spPr>
      </p:pic>
      <p:pic>
        <p:nvPicPr>
          <p:cNvPr id="13" name="Content Placeholder 12">
            <a:extLst>
              <a:ext uri="{FF2B5EF4-FFF2-40B4-BE49-F238E27FC236}">
                <a16:creationId xmlns:a16="http://schemas.microsoft.com/office/drawing/2014/main" id="{D2ACC084-68A5-8BBC-B991-0EBCF3CFE34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109884" y="3158551"/>
            <a:ext cx="3956227" cy="3566713"/>
          </a:xfrm>
        </p:spPr>
      </p:pic>
      <p:sp>
        <p:nvSpPr>
          <p:cNvPr id="4" name="TextBox 3">
            <a:extLst>
              <a:ext uri="{FF2B5EF4-FFF2-40B4-BE49-F238E27FC236}">
                <a16:creationId xmlns:a16="http://schemas.microsoft.com/office/drawing/2014/main" id="{39EACE1D-657F-93A2-B814-67B460FE5E2B}"/>
              </a:ext>
            </a:extLst>
          </p:cNvPr>
          <p:cNvSpPr txBox="1"/>
          <p:nvPr/>
        </p:nvSpPr>
        <p:spPr>
          <a:xfrm>
            <a:off x="8337755" y="1081548"/>
            <a:ext cx="3759582" cy="2400657"/>
          </a:xfrm>
          <a:prstGeom prst="rect">
            <a:avLst/>
          </a:prstGeom>
          <a:noFill/>
        </p:spPr>
        <p:txBody>
          <a:bodyPr wrap="square" rtlCol="0">
            <a:spAutoFit/>
          </a:bodyPr>
          <a:lstStyle/>
          <a:p>
            <a:r>
              <a:rPr lang="en-US" b="0" i="0" dirty="0">
                <a:solidFill>
                  <a:srgbClr val="374151"/>
                </a:solidFill>
                <a:effectLst/>
                <a:latin typeface="__Inter_d65c78"/>
              </a:rPr>
              <a:t> </a:t>
            </a:r>
            <a:r>
              <a:rPr lang="en-US" sz="2400" b="1" i="1" u="sng" dirty="0">
                <a:effectLst/>
                <a:latin typeface="__Inter_d65c78"/>
              </a:rPr>
              <a:t>KDE plot: </a:t>
            </a:r>
            <a:r>
              <a:rPr lang="en-US" b="0" i="0" dirty="0">
                <a:effectLst/>
                <a:latin typeface="__Inter_d65c78"/>
              </a:rPr>
              <a:t>we can observe the sales distribution for each outlet size. [Point out specific trends, such as which outlet size has the highest sales density or any overlaps between the distributions.] This analysis helps us understand how sales performance varies with outlet size</a:t>
            </a:r>
            <a:r>
              <a:rPr lang="en-US" b="0" i="0" dirty="0">
                <a:solidFill>
                  <a:srgbClr val="374151"/>
                </a:solidFill>
                <a:effectLst/>
                <a:latin typeface="__Inter_d65c78"/>
              </a:rPr>
              <a:t>.</a:t>
            </a:r>
            <a:endParaRPr lang="en-IN" dirty="0"/>
          </a:p>
        </p:txBody>
      </p:sp>
      <p:pic>
        <p:nvPicPr>
          <p:cNvPr id="7" name="Picture 6">
            <a:extLst>
              <a:ext uri="{FF2B5EF4-FFF2-40B4-BE49-F238E27FC236}">
                <a16:creationId xmlns:a16="http://schemas.microsoft.com/office/drawing/2014/main" id="{37CD8EF2-B08A-C3D8-AB35-96DAF5692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0255" y="3510116"/>
            <a:ext cx="3714764" cy="3215149"/>
          </a:xfrm>
          <a:prstGeom prst="rect">
            <a:avLst/>
          </a:prstGeom>
        </p:spPr>
      </p:pic>
    </p:spTree>
    <p:extLst>
      <p:ext uri="{BB962C8B-B14F-4D97-AF65-F5344CB8AC3E}">
        <p14:creationId xmlns:p14="http://schemas.microsoft.com/office/powerpoint/2010/main" val="2562170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21ACC7-119B-27AB-8089-DA85AAF82A93}"/>
              </a:ext>
            </a:extLst>
          </p:cNvPr>
          <p:cNvSpPr txBox="1"/>
          <p:nvPr/>
        </p:nvSpPr>
        <p:spPr>
          <a:xfrm>
            <a:off x="117987" y="176981"/>
            <a:ext cx="4611329" cy="800219"/>
          </a:xfrm>
          <a:prstGeom prst="rect">
            <a:avLst/>
          </a:prstGeom>
          <a:noFill/>
        </p:spPr>
        <p:txBody>
          <a:bodyPr wrap="square" rtlCol="0">
            <a:spAutoFit/>
          </a:bodyPr>
          <a:lstStyle/>
          <a:p>
            <a:r>
              <a:rPr lang="en-IN" sz="2800" b="1" u="sng" dirty="0"/>
              <a:t>Label Encoding:- </a:t>
            </a:r>
            <a:r>
              <a:rPr lang="en-IN" b="1" dirty="0"/>
              <a:t>To covert string data in numerical data.</a:t>
            </a:r>
          </a:p>
        </p:txBody>
      </p:sp>
      <p:pic>
        <p:nvPicPr>
          <p:cNvPr id="4" name="Picture 3">
            <a:extLst>
              <a:ext uri="{FF2B5EF4-FFF2-40B4-BE49-F238E27FC236}">
                <a16:creationId xmlns:a16="http://schemas.microsoft.com/office/drawing/2014/main" id="{48794779-6A85-CA26-CAA3-20260F638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9702"/>
            <a:ext cx="6096000" cy="5579807"/>
          </a:xfrm>
          <a:prstGeom prst="rect">
            <a:avLst/>
          </a:prstGeom>
        </p:spPr>
      </p:pic>
      <p:sp>
        <p:nvSpPr>
          <p:cNvPr id="5" name="TextBox 4">
            <a:extLst>
              <a:ext uri="{FF2B5EF4-FFF2-40B4-BE49-F238E27FC236}">
                <a16:creationId xmlns:a16="http://schemas.microsoft.com/office/drawing/2014/main" id="{D86EA665-41FD-B8BC-8293-62EFDD6FF9EB}"/>
              </a:ext>
            </a:extLst>
          </p:cNvPr>
          <p:cNvSpPr txBox="1"/>
          <p:nvPr/>
        </p:nvSpPr>
        <p:spPr>
          <a:xfrm>
            <a:off x="6577781" y="344129"/>
            <a:ext cx="4886632" cy="830997"/>
          </a:xfrm>
          <a:prstGeom prst="rect">
            <a:avLst/>
          </a:prstGeom>
          <a:noFill/>
        </p:spPr>
        <p:txBody>
          <a:bodyPr wrap="square" rtlCol="0">
            <a:spAutoFit/>
          </a:bodyPr>
          <a:lstStyle/>
          <a:p>
            <a:r>
              <a:rPr lang="en-IN" sz="2400" b="1" u="sng" dirty="0"/>
              <a:t>Heat Map;-</a:t>
            </a:r>
            <a:r>
              <a:rPr lang="en-IN" sz="2400" b="1" dirty="0"/>
              <a:t>To Visualize The Corelation.</a:t>
            </a:r>
          </a:p>
        </p:txBody>
      </p:sp>
      <p:pic>
        <p:nvPicPr>
          <p:cNvPr id="7" name="Picture 6">
            <a:extLst>
              <a:ext uri="{FF2B5EF4-FFF2-40B4-BE49-F238E27FC236}">
                <a16:creationId xmlns:a16="http://schemas.microsoft.com/office/drawing/2014/main" id="{295DF2B3-FCD6-35C0-8807-8EF359B8B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1805" y="1189702"/>
            <a:ext cx="5781369" cy="5437240"/>
          </a:xfrm>
          <a:prstGeom prst="rect">
            <a:avLst/>
          </a:prstGeom>
        </p:spPr>
      </p:pic>
    </p:spTree>
    <p:extLst>
      <p:ext uri="{BB962C8B-B14F-4D97-AF65-F5344CB8AC3E}">
        <p14:creationId xmlns:p14="http://schemas.microsoft.com/office/powerpoint/2010/main" val="3240552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43E274-4036-8B26-5785-21DAD80776E6}"/>
              </a:ext>
            </a:extLst>
          </p:cNvPr>
          <p:cNvSpPr txBox="1"/>
          <p:nvPr/>
        </p:nvSpPr>
        <p:spPr>
          <a:xfrm>
            <a:off x="177487" y="434662"/>
            <a:ext cx="3598607" cy="1446550"/>
          </a:xfrm>
          <a:prstGeom prst="rect">
            <a:avLst/>
          </a:prstGeom>
          <a:noFill/>
        </p:spPr>
        <p:txBody>
          <a:bodyPr wrap="square" rtlCol="0">
            <a:spAutoFit/>
          </a:bodyPr>
          <a:lstStyle/>
          <a:p>
            <a:r>
              <a:rPr lang="en-IN" sz="2400" b="1" u="sng" dirty="0"/>
              <a:t>Input And Output:</a:t>
            </a:r>
          </a:p>
          <a:p>
            <a:r>
              <a:rPr lang="en-IN" sz="2000" b="1" dirty="0"/>
              <a:t>Input-For Train.</a:t>
            </a:r>
          </a:p>
          <a:p>
            <a:r>
              <a:rPr lang="en-IN" sz="2000" b="1" dirty="0"/>
              <a:t>Output-For Test</a:t>
            </a:r>
          </a:p>
          <a:p>
            <a:r>
              <a:rPr lang="en-IN" sz="2400" b="1" u="sng" dirty="0"/>
              <a:t> </a:t>
            </a:r>
          </a:p>
        </p:txBody>
      </p:sp>
      <p:pic>
        <p:nvPicPr>
          <p:cNvPr id="4" name="Picture 3">
            <a:extLst>
              <a:ext uri="{FF2B5EF4-FFF2-40B4-BE49-F238E27FC236}">
                <a16:creationId xmlns:a16="http://schemas.microsoft.com/office/drawing/2014/main" id="{AE4967F2-5B5F-0B7D-56A5-72F00F06A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44" y="1655091"/>
            <a:ext cx="2920182" cy="1550226"/>
          </a:xfrm>
          <a:prstGeom prst="rect">
            <a:avLst/>
          </a:prstGeom>
        </p:spPr>
      </p:pic>
      <p:sp>
        <p:nvSpPr>
          <p:cNvPr id="7" name="TextBox 6">
            <a:extLst>
              <a:ext uri="{FF2B5EF4-FFF2-40B4-BE49-F238E27FC236}">
                <a16:creationId xmlns:a16="http://schemas.microsoft.com/office/drawing/2014/main" id="{01CDC26D-AA77-EE6E-D6D9-92EB7738EB72}"/>
              </a:ext>
            </a:extLst>
          </p:cNvPr>
          <p:cNvSpPr txBox="1"/>
          <p:nvPr/>
        </p:nvSpPr>
        <p:spPr>
          <a:xfrm>
            <a:off x="4611329" y="267928"/>
            <a:ext cx="6971071" cy="1200329"/>
          </a:xfrm>
          <a:prstGeom prst="rect">
            <a:avLst/>
          </a:prstGeom>
          <a:noFill/>
        </p:spPr>
        <p:txBody>
          <a:bodyPr wrap="square" rtlCol="0">
            <a:spAutoFit/>
          </a:bodyPr>
          <a:lstStyle/>
          <a:p>
            <a:r>
              <a:rPr lang="en-IN" sz="2400" b="1" u="sng" dirty="0"/>
              <a:t>Train-Test-Split:-</a:t>
            </a:r>
          </a:p>
          <a:p>
            <a:r>
              <a:rPr lang="en-IN" sz="2400" b="1" dirty="0"/>
              <a:t>Splitting the data for training and testing the machine.</a:t>
            </a:r>
          </a:p>
        </p:txBody>
      </p:sp>
      <p:pic>
        <p:nvPicPr>
          <p:cNvPr id="9" name="Picture 8">
            <a:extLst>
              <a:ext uri="{FF2B5EF4-FFF2-40B4-BE49-F238E27FC236}">
                <a16:creationId xmlns:a16="http://schemas.microsoft.com/office/drawing/2014/main" id="{60D0F7B2-C123-58E4-C73D-14FD9721C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5362" y="1574370"/>
            <a:ext cx="5760689" cy="1036711"/>
          </a:xfrm>
          <a:prstGeom prst="rect">
            <a:avLst/>
          </a:prstGeom>
        </p:spPr>
      </p:pic>
      <p:sp>
        <p:nvSpPr>
          <p:cNvPr id="11" name="TextBox 10">
            <a:extLst>
              <a:ext uri="{FF2B5EF4-FFF2-40B4-BE49-F238E27FC236}">
                <a16:creationId xmlns:a16="http://schemas.microsoft.com/office/drawing/2014/main" id="{34CAE15C-1446-8DCA-A6A2-45D8082A9069}"/>
              </a:ext>
            </a:extLst>
          </p:cNvPr>
          <p:cNvSpPr txBox="1"/>
          <p:nvPr/>
        </p:nvSpPr>
        <p:spPr>
          <a:xfrm>
            <a:off x="196644" y="3578942"/>
            <a:ext cx="2920182" cy="1384995"/>
          </a:xfrm>
          <a:prstGeom prst="rect">
            <a:avLst/>
          </a:prstGeom>
          <a:noFill/>
        </p:spPr>
        <p:txBody>
          <a:bodyPr wrap="square" rtlCol="0">
            <a:spAutoFit/>
          </a:bodyPr>
          <a:lstStyle/>
          <a:p>
            <a:r>
              <a:rPr lang="en-IN" sz="2400" b="1" u="sng" dirty="0"/>
              <a:t>Import The standard Scaler: </a:t>
            </a:r>
            <a:r>
              <a:rPr lang="en-IN" b="1" dirty="0"/>
              <a:t>To bring the data into a single range.</a:t>
            </a:r>
          </a:p>
        </p:txBody>
      </p:sp>
      <p:pic>
        <p:nvPicPr>
          <p:cNvPr id="13" name="Picture 12">
            <a:extLst>
              <a:ext uri="{FF2B5EF4-FFF2-40B4-BE49-F238E27FC236}">
                <a16:creationId xmlns:a16="http://schemas.microsoft.com/office/drawing/2014/main" id="{E91FF215-BA1A-073F-3228-78AC59A24B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487" y="4976789"/>
            <a:ext cx="3840813" cy="1550226"/>
          </a:xfrm>
          <a:prstGeom prst="rect">
            <a:avLst/>
          </a:prstGeom>
        </p:spPr>
      </p:pic>
      <p:sp>
        <p:nvSpPr>
          <p:cNvPr id="14" name="TextBox 13">
            <a:extLst>
              <a:ext uri="{FF2B5EF4-FFF2-40B4-BE49-F238E27FC236}">
                <a16:creationId xmlns:a16="http://schemas.microsoft.com/office/drawing/2014/main" id="{0429AF2D-5C7A-C2F9-5DD9-BAF58C3D981D}"/>
              </a:ext>
            </a:extLst>
          </p:cNvPr>
          <p:cNvSpPr txBox="1"/>
          <p:nvPr/>
        </p:nvSpPr>
        <p:spPr>
          <a:xfrm>
            <a:off x="4758813" y="3500284"/>
            <a:ext cx="5348748" cy="461665"/>
          </a:xfrm>
          <a:prstGeom prst="rect">
            <a:avLst/>
          </a:prstGeom>
          <a:noFill/>
        </p:spPr>
        <p:txBody>
          <a:bodyPr wrap="square" rtlCol="0">
            <a:spAutoFit/>
          </a:bodyPr>
          <a:lstStyle/>
          <a:p>
            <a:r>
              <a:rPr lang="en-IN" sz="2400" b="1" u="sng" dirty="0"/>
              <a:t>Import The Liner Regression:</a:t>
            </a:r>
          </a:p>
        </p:txBody>
      </p:sp>
      <p:pic>
        <p:nvPicPr>
          <p:cNvPr id="16" name="Picture 15">
            <a:extLst>
              <a:ext uri="{FF2B5EF4-FFF2-40B4-BE49-F238E27FC236}">
                <a16:creationId xmlns:a16="http://schemas.microsoft.com/office/drawing/2014/main" id="{8335FF3C-8092-B184-7F40-C879CFEC47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46692" y="4409938"/>
            <a:ext cx="5033049" cy="1566033"/>
          </a:xfrm>
          <a:prstGeom prst="rect">
            <a:avLst/>
          </a:prstGeom>
        </p:spPr>
      </p:pic>
    </p:spTree>
    <p:extLst>
      <p:ext uri="{BB962C8B-B14F-4D97-AF65-F5344CB8AC3E}">
        <p14:creationId xmlns:p14="http://schemas.microsoft.com/office/powerpoint/2010/main" val="3858336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156FF-BF02-5C4E-D8B1-1C06451E1365}"/>
              </a:ext>
            </a:extLst>
          </p:cNvPr>
          <p:cNvSpPr txBox="1"/>
          <p:nvPr/>
        </p:nvSpPr>
        <p:spPr>
          <a:xfrm>
            <a:off x="216310" y="294968"/>
            <a:ext cx="10579509" cy="461665"/>
          </a:xfrm>
          <a:prstGeom prst="rect">
            <a:avLst/>
          </a:prstGeom>
          <a:noFill/>
        </p:spPr>
        <p:txBody>
          <a:bodyPr wrap="square" rtlCol="0">
            <a:spAutoFit/>
          </a:bodyPr>
          <a:lstStyle/>
          <a:p>
            <a:r>
              <a:rPr lang="en-IN" sz="2400" b="1" u="sng" dirty="0"/>
              <a:t>Import Mean-squared-Error , R2_Score:-</a:t>
            </a:r>
          </a:p>
        </p:txBody>
      </p:sp>
      <p:pic>
        <p:nvPicPr>
          <p:cNvPr id="4" name="Picture 3">
            <a:extLst>
              <a:ext uri="{FF2B5EF4-FFF2-40B4-BE49-F238E27FC236}">
                <a16:creationId xmlns:a16="http://schemas.microsoft.com/office/drawing/2014/main" id="{558F7F2A-C931-788A-6F8D-F69C072A14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52" y="1090929"/>
            <a:ext cx="5754748" cy="3903857"/>
          </a:xfrm>
          <a:prstGeom prst="rect">
            <a:avLst/>
          </a:prstGeom>
        </p:spPr>
      </p:pic>
      <p:sp>
        <p:nvSpPr>
          <p:cNvPr id="5" name="TextBox 4">
            <a:extLst>
              <a:ext uri="{FF2B5EF4-FFF2-40B4-BE49-F238E27FC236}">
                <a16:creationId xmlns:a16="http://schemas.microsoft.com/office/drawing/2014/main" id="{966AA968-7692-F403-ABE3-DEA673B02DFC}"/>
              </a:ext>
            </a:extLst>
          </p:cNvPr>
          <p:cNvSpPr txBox="1"/>
          <p:nvPr/>
        </p:nvSpPr>
        <p:spPr>
          <a:xfrm>
            <a:off x="6833419" y="366077"/>
            <a:ext cx="5754748" cy="461665"/>
          </a:xfrm>
          <a:prstGeom prst="rect">
            <a:avLst/>
          </a:prstGeom>
          <a:noFill/>
        </p:spPr>
        <p:txBody>
          <a:bodyPr wrap="square" rtlCol="0">
            <a:spAutoFit/>
          </a:bodyPr>
          <a:lstStyle/>
          <a:p>
            <a:r>
              <a:rPr lang="en-IN" sz="2400" b="1" u="sng" dirty="0"/>
              <a:t>Import Polynomial Regression: </a:t>
            </a:r>
          </a:p>
        </p:txBody>
      </p:sp>
      <p:pic>
        <p:nvPicPr>
          <p:cNvPr id="7" name="Picture 6">
            <a:extLst>
              <a:ext uri="{FF2B5EF4-FFF2-40B4-BE49-F238E27FC236}">
                <a16:creationId xmlns:a16="http://schemas.microsoft.com/office/drawing/2014/main" id="{A976BA2C-8F5A-7D13-6429-50F03E5C23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1639" y="1090929"/>
            <a:ext cx="5840361" cy="3817773"/>
          </a:xfrm>
          <a:prstGeom prst="rect">
            <a:avLst/>
          </a:prstGeom>
        </p:spPr>
      </p:pic>
    </p:spTree>
    <p:extLst>
      <p:ext uri="{BB962C8B-B14F-4D97-AF65-F5344CB8AC3E}">
        <p14:creationId xmlns:p14="http://schemas.microsoft.com/office/powerpoint/2010/main" val="1142869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0560-39F5-F3B5-E256-23C2E6265E26}"/>
              </a:ext>
            </a:extLst>
          </p:cNvPr>
          <p:cNvSpPr>
            <a:spLocks noGrp="1"/>
          </p:cNvSpPr>
          <p:nvPr>
            <p:ph type="title"/>
          </p:nvPr>
        </p:nvSpPr>
        <p:spPr>
          <a:xfrm>
            <a:off x="353962" y="609600"/>
            <a:ext cx="4336026" cy="835742"/>
          </a:xfrm>
        </p:spPr>
        <p:txBody>
          <a:bodyPr>
            <a:normAutofit/>
          </a:bodyPr>
          <a:lstStyle/>
          <a:p>
            <a:r>
              <a:rPr lang="en-IN" sz="3200" b="1" i="0" u="sng" dirty="0">
                <a:effectLst/>
                <a:latin typeface="__Inter_d65c78"/>
              </a:rPr>
              <a:t> Power BI Dashboard</a:t>
            </a:r>
            <a:endParaRPr lang="en-IN" sz="3200" u="sng" dirty="0"/>
          </a:p>
        </p:txBody>
      </p:sp>
      <p:pic>
        <p:nvPicPr>
          <p:cNvPr id="6" name="Content Placeholder 5">
            <a:extLst>
              <a:ext uri="{FF2B5EF4-FFF2-40B4-BE49-F238E27FC236}">
                <a16:creationId xmlns:a16="http://schemas.microsoft.com/office/drawing/2014/main" id="{2E7A2C55-BEAE-44BE-FDEA-5E06D4D4B7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96466" y="186813"/>
            <a:ext cx="7295534" cy="6587613"/>
          </a:xfrm>
        </p:spPr>
      </p:pic>
      <p:sp>
        <p:nvSpPr>
          <p:cNvPr id="4" name="Text Placeholder 3">
            <a:extLst>
              <a:ext uri="{FF2B5EF4-FFF2-40B4-BE49-F238E27FC236}">
                <a16:creationId xmlns:a16="http://schemas.microsoft.com/office/drawing/2014/main" id="{6A47152D-A18F-7F66-CB1B-949CAD948576}"/>
              </a:ext>
            </a:extLst>
          </p:cNvPr>
          <p:cNvSpPr>
            <a:spLocks noGrp="1"/>
          </p:cNvSpPr>
          <p:nvPr>
            <p:ph type="body" sz="half" idx="2"/>
          </p:nvPr>
        </p:nvSpPr>
        <p:spPr>
          <a:xfrm>
            <a:off x="117988" y="1573162"/>
            <a:ext cx="4778478" cy="4916128"/>
          </a:xfrm>
        </p:spPr>
        <p:txBody>
          <a:bodyPr/>
          <a:lstStyle/>
          <a:p>
            <a:pPr marL="285750" indent="-285750">
              <a:buFont typeface="Arial" panose="020B0604020202020204" pitchFamily="34" charset="0"/>
              <a:buChar char="•"/>
            </a:pPr>
            <a:r>
              <a:rPr lang="en-US" sz="3200" u="sng" dirty="0"/>
              <a:t>In Power Bi Dashboard:</a:t>
            </a:r>
          </a:p>
          <a:p>
            <a:pPr marL="285750" indent="-285750" algn="l">
              <a:buFont typeface="Arial" panose="020B0604020202020204" pitchFamily="34" charset="0"/>
              <a:buChar char="•"/>
            </a:pPr>
            <a:r>
              <a:rPr lang="en-US" dirty="0"/>
              <a:t>Bar charts showing sales by Item Fat Content and Outlet Type  </a:t>
            </a:r>
          </a:p>
          <a:p>
            <a:pPr marL="285750" indent="-285750" algn="l">
              <a:buFont typeface="Arial" panose="020B0604020202020204" pitchFamily="34" charset="0"/>
              <a:buChar char="•"/>
            </a:pPr>
            <a:r>
              <a:rPr lang="en-US" dirty="0"/>
              <a:t>Line charts for sales trends over time based on Outlet Establishment Year .</a:t>
            </a:r>
          </a:p>
          <a:p>
            <a:pPr algn="l">
              <a:buFont typeface="Arial" panose="020B0604020202020204" pitchFamily="34" charset="0"/>
              <a:buChar char="•"/>
            </a:pPr>
            <a:r>
              <a:rPr lang="en-US" sz="1800" b="0" i="0" dirty="0">
                <a:effectLst/>
                <a:latin typeface="__Inter_d65c78"/>
              </a:rPr>
              <a:t>Area chart visualizing </a:t>
            </a:r>
            <a:r>
              <a:rPr lang="en-US" sz="1800" dirty="0">
                <a:effectLst/>
                <a:latin typeface="__Inter_d65c78"/>
              </a:rPr>
              <a:t>year of Outlet Establishment.</a:t>
            </a:r>
          </a:p>
          <a:p>
            <a:pPr algn="l">
              <a:buFont typeface="Arial" panose="020B0604020202020204" pitchFamily="34" charset="0"/>
              <a:buChar char="•"/>
            </a:pPr>
            <a:r>
              <a:rPr lang="en-IN" sz="1600" dirty="0"/>
              <a:t>Dounts chart visualizing Fat content.</a:t>
            </a:r>
          </a:p>
          <a:p>
            <a:pPr algn="l">
              <a:buFont typeface="Arial" panose="020B0604020202020204" pitchFamily="34" charset="0"/>
              <a:buChar char="•"/>
            </a:pPr>
            <a:r>
              <a:rPr lang="en-IN" sz="1600" dirty="0"/>
              <a:t>Funnel chart visualizing Outlet Location.</a:t>
            </a:r>
          </a:p>
          <a:p>
            <a:pPr algn="l">
              <a:buFont typeface="Arial" panose="020B0604020202020204" pitchFamily="34" charset="0"/>
              <a:buChar char="•"/>
            </a:pPr>
            <a:r>
              <a:rPr lang="en-IN" sz="1600" dirty="0"/>
              <a:t>Bar chart Visualizing Total sales By Item types.</a:t>
            </a:r>
          </a:p>
          <a:p>
            <a:pPr algn="l"/>
            <a:endParaRPr lang="en-US" dirty="0"/>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endParaRPr lang="en-IN" dirty="0"/>
          </a:p>
        </p:txBody>
      </p:sp>
    </p:spTree>
    <p:extLst>
      <p:ext uri="{BB962C8B-B14F-4D97-AF65-F5344CB8AC3E}">
        <p14:creationId xmlns:p14="http://schemas.microsoft.com/office/powerpoint/2010/main" val="2612497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2C7BEE-4869-B523-01FB-EFBCF24C85FE}"/>
              </a:ext>
            </a:extLst>
          </p:cNvPr>
          <p:cNvSpPr txBox="1"/>
          <p:nvPr/>
        </p:nvSpPr>
        <p:spPr>
          <a:xfrm>
            <a:off x="1150374" y="570271"/>
            <a:ext cx="8475407" cy="2862322"/>
          </a:xfrm>
          <a:prstGeom prst="rect">
            <a:avLst/>
          </a:prstGeom>
          <a:noFill/>
        </p:spPr>
        <p:txBody>
          <a:bodyPr wrap="square" rtlCol="0">
            <a:spAutoFit/>
          </a:bodyPr>
          <a:lstStyle/>
          <a:p>
            <a:pPr algn="l">
              <a:buNone/>
            </a:pPr>
            <a:r>
              <a:rPr lang="en-US" sz="3600" b="1" i="1" u="sng" dirty="0">
                <a:effectLst>
                  <a:outerShdw blurRad="38100" dist="38100" dir="2700000" algn="tl">
                    <a:srgbClr val="000000">
                      <a:alpha val="43137"/>
                    </a:srgbClr>
                  </a:outerShdw>
                </a:effectLst>
                <a:latin typeface="__Inter_d65c78"/>
              </a:rPr>
              <a:t>Conclusion:</a:t>
            </a:r>
          </a:p>
          <a:p>
            <a:pPr algn="l">
              <a:buFont typeface="Arial" panose="020B0604020202020204" pitchFamily="34" charset="0"/>
              <a:buChar char="•"/>
            </a:pPr>
            <a:r>
              <a:rPr lang="en-US" b="1" i="0" dirty="0">
                <a:effectLst/>
                <a:latin typeface="__Inter_d65c78"/>
              </a:rPr>
              <a:t>Key Findings</a:t>
            </a:r>
            <a:r>
              <a:rPr lang="en-US" b="0" i="0" dirty="0">
                <a:effectLst/>
                <a:latin typeface="__Inter_d65c78"/>
              </a:rPr>
              <a:t>:</a:t>
            </a:r>
          </a:p>
          <a:p>
            <a:pPr marL="742950" lvl="1" indent="-285750" algn="l">
              <a:buFont typeface="Arial" panose="020B0604020202020204" pitchFamily="34" charset="0"/>
              <a:buChar char="•"/>
            </a:pPr>
            <a:r>
              <a:rPr lang="en-US" b="0" i="0" dirty="0">
                <a:effectLst/>
                <a:latin typeface="__Inter_d65c78"/>
              </a:rPr>
              <a:t>Identify top-performing item types and outlets.</a:t>
            </a:r>
          </a:p>
          <a:p>
            <a:pPr marL="742950" lvl="1" indent="-285750" algn="l">
              <a:buFont typeface="Arial" panose="020B0604020202020204" pitchFamily="34" charset="0"/>
              <a:buChar char="•"/>
            </a:pPr>
            <a:r>
              <a:rPr lang="en-US" b="0" i="0" dirty="0">
                <a:effectLst/>
                <a:latin typeface="__Inter_d65c78"/>
              </a:rPr>
              <a:t>Understand the impact of item visibility and fat content on sales.</a:t>
            </a:r>
          </a:p>
          <a:p>
            <a:pPr algn="l">
              <a:buFont typeface="Arial" panose="020B0604020202020204" pitchFamily="34" charset="0"/>
              <a:buChar char="•"/>
            </a:pPr>
            <a:r>
              <a:rPr lang="en-US" sz="3600" b="1" i="1" u="sng" dirty="0">
                <a:effectLst/>
                <a:latin typeface="__Inter_d65c78"/>
              </a:rPr>
              <a:t>Future Work:</a:t>
            </a:r>
          </a:p>
          <a:p>
            <a:pPr marL="742950" lvl="1" indent="-285750" algn="l">
              <a:buFont typeface="Arial" panose="020B0604020202020204" pitchFamily="34" charset="0"/>
              <a:buChar char="•"/>
            </a:pPr>
            <a:r>
              <a:rPr lang="en-US" b="0" i="0" dirty="0">
                <a:effectLst/>
                <a:latin typeface="__Inter_d65c78"/>
              </a:rPr>
              <a:t>Further analysis on customer demographics and purchasing behavior.</a:t>
            </a:r>
          </a:p>
          <a:p>
            <a:pPr marL="742950" lvl="1" indent="-285750" algn="l">
              <a:buFont typeface="Arial" panose="020B0604020202020204" pitchFamily="34" charset="0"/>
              <a:buChar char="•"/>
            </a:pPr>
            <a:r>
              <a:rPr lang="en-US" b="0" i="0" dirty="0">
                <a:effectLst/>
                <a:latin typeface="__Inter_d65c78"/>
              </a:rPr>
              <a:t>Explore machine learning models for sales prediction.</a:t>
            </a:r>
          </a:p>
          <a:p>
            <a:endParaRPr lang="en-IN" dirty="0"/>
          </a:p>
        </p:txBody>
      </p:sp>
      <p:sp>
        <p:nvSpPr>
          <p:cNvPr id="3" name="TextBox 2">
            <a:extLst>
              <a:ext uri="{FF2B5EF4-FFF2-40B4-BE49-F238E27FC236}">
                <a16:creationId xmlns:a16="http://schemas.microsoft.com/office/drawing/2014/main" id="{02F61E8C-5AA9-32F1-A4BA-916EB080972B}"/>
              </a:ext>
            </a:extLst>
          </p:cNvPr>
          <p:cNvSpPr txBox="1"/>
          <p:nvPr/>
        </p:nvSpPr>
        <p:spPr>
          <a:xfrm>
            <a:off x="1789471" y="4050890"/>
            <a:ext cx="7374193" cy="769441"/>
          </a:xfrm>
          <a:prstGeom prst="rect">
            <a:avLst/>
          </a:prstGeom>
          <a:noFill/>
        </p:spPr>
        <p:txBody>
          <a:bodyPr wrap="square" rtlCol="0">
            <a:spAutoFit/>
          </a:bodyPr>
          <a:lstStyle/>
          <a:p>
            <a:pPr algn="ctr"/>
            <a:r>
              <a:rPr lang="en-US" sz="4400" u="sng" dirty="0"/>
              <a:t>* </a:t>
            </a:r>
            <a:r>
              <a:rPr lang="en-IN" sz="4400" b="1" i="1" dirty="0"/>
              <a:t>Thank You</a:t>
            </a:r>
            <a:r>
              <a:rPr lang="en-US" sz="4400" u="sng" dirty="0"/>
              <a:t> *</a:t>
            </a:r>
            <a:endParaRPr lang="en-IN" sz="4400" b="1" i="1" dirty="0"/>
          </a:p>
        </p:txBody>
      </p:sp>
    </p:spTree>
    <p:extLst>
      <p:ext uri="{BB962C8B-B14F-4D97-AF65-F5344CB8AC3E}">
        <p14:creationId xmlns:p14="http://schemas.microsoft.com/office/powerpoint/2010/main" val="1619734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D4FE1632-F131-47D3-A814-99E9CD025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10776</TotalTime>
  <Words>1784</Words>
  <Application>Microsoft Office PowerPoint</Application>
  <PresentationFormat>Widescreen</PresentationFormat>
  <Paragraphs>207</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__Inter_d65c78</vt:lpstr>
      <vt:lpstr>Arial</vt:lpstr>
      <vt:lpstr>Arial Rounded MT Bold</vt:lpstr>
      <vt:lpstr>Bookman Old Style</vt:lpstr>
      <vt:lpstr>Calibri</vt:lpstr>
      <vt:lpstr>Caveat</vt:lpstr>
      <vt:lpstr>Rockwell</vt:lpstr>
      <vt:lpstr>Segoe UI Black</vt:lpstr>
      <vt:lpstr>Damask</vt:lpstr>
      <vt:lpstr>* BLINKIT –PRESENTATION *</vt:lpstr>
      <vt:lpstr>PowerPoint Presentation</vt:lpstr>
      <vt:lpstr>PowerPoint Presentation</vt:lpstr>
      <vt:lpstr>PowerPoint Presentation</vt:lpstr>
      <vt:lpstr>PowerPoint Presentation</vt:lpstr>
      <vt:lpstr>PowerPoint Presentation</vt:lpstr>
      <vt:lpstr>PowerPoint Presentation</vt:lpstr>
      <vt:lpstr>Describe the chart</vt:lpstr>
      <vt:lpstr>Describe the chart</vt:lpstr>
      <vt:lpstr>Describe the chart</vt:lpstr>
      <vt:lpstr>Describe the chart</vt:lpstr>
      <vt:lpstr> Excle Dashboard</vt:lpstr>
      <vt:lpstr>Python data analysis</vt:lpstr>
      <vt:lpstr>Python data analysis</vt:lpstr>
      <vt:lpstr>PowerPoint Presentation</vt:lpstr>
      <vt:lpstr>Python –Data Visualization</vt:lpstr>
      <vt:lpstr>Python –Data Visualization</vt:lpstr>
      <vt:lpstr>Python –Data Visualization</vt:lpstr>
      <vt:lpstr>Python –Data Visualization</vt:lpstr>
      <vt:lpstr>PowerPoint Presentation</vt:lpstr>
      <vt:lpstr>PowerPoint Presentation</vt:lpstr>
      <vt:lpstr>PowerPoint Presentation</vt:lpstr>
      <vt:lpstr> Power BI Dashboard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dc:creator>
  <cp:lastModifiedBy>sushree pranati swain</cp:lastModifiedBy>
  <cp:revision>33</cp:revision>
  <dcterms:created xsi:type="dcterms:W3CDTF">2024-06-24T12:27:37Z</dcterms:created>
  <dcterms:modified xsi:type="dcterms:W3CDTF">2026-04-10T10:47:52Z</dcterms:modified>
</cp:coreProperties>
</file>